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iefing" id="{8a3a37c5-6642-0703-5aeb-1deb4d9e7e2e}">
          <p14:sldIdLst>
            <p14:sldId id="256"/>
            <p14:sldId id="257"/>
            <p14:sldId id="258"/>
            <p14:sldId id="259"/>
            <p14:sldId id="260"/>
            <p14:sldId id="261"/>
            <p14:sldId id="262"/>
            <p14:sldId id="263"/>
            <p14:sldId id="264"/>
            <p14:sldId id="265"/>
          </p14:sldIdLst>
        </p14:section>
        <p14:section name="Backup (only if asked)" id="{addc5a77-c011-28bf-8b5f-1cf0a9992f03}">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Thank you for making the time. I am Robert Petillo. This is Samuel McFarlane. We built MusterCommand, and today we want to walk you through one morning on a single floor.
ROBERT: Before we start, one thing to be clear about. Everything you will see runs on made-up data: made-up names, made-up counts, a made-up floor. We will point out the limits as we go.
Cue: pause after "made-up." Do not rush the disclosure. (0:00 to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We started with two things that have to be true at the same time. Safety means every person accounted for, in seconds, with a location, not an estimate. Operational excellence means the drill produces its own evidence as it happens, instead of someone spending half a day rebuilding what people remember.
ROBERT: The third one changed the design. On a floor, the customer is the person in the stairwell: employee, contractor, or visitor. They do not have time to learn a new tool. So the rule is one screen, two buttons, and no training.
Cue: Sam finishes on "no training." Robert picks up with "that is why the phone is the whole interface." (0:20 to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It is 9:42 on Floor 07. The alarm sounds. One hundred ninety-five people start moving toward the stairwells.
ROBERT: At 9:46 the floor is clear. Four minutes. That part works.
ROBERT: Then the part that does not work. Staff leads reach the street with a roster printed at eight o'clock. Headcounts go over one radio channel, one quadrant at a time. Two names are unaccounted for, and nobody knows whether those two people are still inside. A staff lead goes back up to check.
ROBERT: At 10:06, all clear. Twenty-four minutes after the alarm.
SAM: And the only record is a handwritten sheet and what people remember.
ROBERT: For those twenty minutes, no one could say who was safe, who was missing, and who needed help. Not because anyone did anything wrong. Because there is no system that answers that question.
Cue: stop and count three seconds after the last line, then advance.
If asked about the timings: "They are illustrative on a synthetic floor. The shape is what matters. The pilot gives us your real numbers." (0:40 to 1:40)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Same floor, same alarm, one difference. At eight in the morning, everyone scans a QR code at the entrance. Badge or visitor pass, about two seconds. They are on the live roster before the alarm sounds.
ROBERT: At 9:42 the staff lead declares. Every signed-in phone switches to evacuation, with the stairwell and the meeting point on screen.
SAM: The floor is still clear at 9:46, in the same four minutes. We did not make people walk faster.
ROBERT: At 9:50, 191 of 195 have tapped "I am safe." One person tapped "I need help," and a responder is routed to them by name, not by radio.
SAM: Two of the remaining three resolve. The last one never badged in, and the system already knew that. It shows as not in the building, not as missing.
ROBERT: Everyone accounted for eight minutes after the alarm. Sixteen minutes back. The emergency works because the morning already happened.
The 191 / 1 / 2 / 1 breakdown is illustrative. If asked for real figures: "We need your floor data to produce real ones. That is the pilot." (1:40 to 2:20)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This is the map every phone shows once a drill is declared. It knows which sector the person signed in to, so it draws their route along the corridors to the assigned stairwell, and it marks the elevators as recalled. There are no names on this map.
ROBERT: And this is how slide 4 works in practice. When someone taps "I need help," the commander doesn't get a radio call. They get that person pinned on the map, the nearest stairwell, and a four-step rescue checklist. Every step is written to the audit log.
SAM: One honest note: this is our drawing of Floor 07. Checking it against your floor plan is part of the floor data we're asking for.
Cue: point at the green route, then at the red pin icon. Keep it under 40 seconds. (2:20 to 3:00)
If asked whether the map is official: "No. It's our prototype drawing. We'd replace it with your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On the safety side: time to all safe is measured, not estimated. Unaccounted people surface with a last known quadrant. Assistance requests reach a responder by name. Silence is never read as safety.
SAM: On the operations side: the drill record writes itself as it happens. Compliance evidence is generated, not reconstructed. One sign-in serves attendance, visitors, and drills, so the data stays current between drills.
ROBERT: Safety gets us in the door. Operational excellence is why it still gets used on a Tuesday with no drill scheduled. (3:00 to 3:40)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It runs in any phone browser. No app, no account. The front end is React and TypeScript. The server is Node and Express, with live updates to every screen, so nobody reads a stale count. Each role sees its own view of the same system. Alerts go out in six languages, with a read-aloud voice.
ROBERT: Now the limits. The roster is made up. It does not connect to the fire alarm panel. Alerts reach phones that have the page open; there is no text message or phone notification yet. And the audit log is held in memory, so a restart clears it.
Cue: let the limits sit. Do not add a qualifier. This is the trust moment. (3:40 to 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laptop on a phone hotspot, app running, signed in on Step 01 showing 195 / 195. Robert's phone has Wi-Fi off and opened the sign-in page from the Cellular 5G QR code.
1 ROBERT, phone: Fill Staff Lead (Robert Petillo), Entering Building, Sign In &amp; Get Digital Floor 07 Pass. "This is what every person does on the way in. Two seconds. Now I am on the roster." SAM points at In building now: 195 becomes 196. "That reached the commander without a radio call."
2 SAM warns the room about the siren, then Declare Drill / Alarm, then Declare &amp; Proceed to Step 04 Broadcast, then Send Emergency Alert Now. "Same as the alarm going off." ROBERT holds up the phone and taps Español: "Six languages, with the floor map and my route at the bottom."
3 ROBERT taps the red Necesito ayuda inmediata button: "Now I'm the person who can't get out."
4 SAM clicks I Understand &amp; Egressing to close the alert, then Open Rescue SOP &amp; FDNY Slip in the red banner. "There I am: Sector NW, my desk, the nearest stairwell and the route." If someone else is selected, click Robert Petillo in the distress queue. Then Life-Saving Procedure, then Life Saved — Mark Safe Outside. "Every step of that rescue is in the audit log."
Stop there. Don't seal and don't open the certificate.
Fallback: if the phone fails, use the backup tab on the laptop. If the app fails, say "We will use the screenshots," stay on this slide and talk through the four steps. Never troubleshoot in front of the room. (4:25 to 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One: real floor data. The quadrants, the stairwells, the assembly points, and how your roster represents contractors and visitors.
ROBERT: Two: drill records. Timings from recent drills, so the baseline is your number, not our guess.
ROBERT: Three: one floor to pilot. A single scheduled drill, observed beside the current paper process.
SAM: We are not asking for a decision today. We would rather be corrected now than build six more weeks on assumptions we invented.
ROBERT: What we would like to leave with today is a name for the floor data and a date for the first drill. Who is the right person for that?
Cue: do not end the meeting without a name or a date. If neither is offered: "Who should we follow up with, and by when?" (6:15 to 6:45)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Here is what happens next. We finish this phase. You give us the real floor and drill data. Then we sit down and define what comes after. We will not propose a build plan before we have seen your numbers.
ROBERT: What we want to be true when we leave is that we all agree on what "done" looks like on your floor.
Cue: stop talking. Let them ask. Sam takes the first technical question; Robert takes the first floor question. (6:45 to 7:00)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(only if asked): the five steps behind the timeline. 01 Scan at the entrance, 02 the live signed-in roster, 03 the staff lead declares, 04 the alert goes to every open phone, 05 people self-report and the record is sealed.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(only if asked): the commander and the auditor see the full floor. Staff leads see their quadrant. Everyone else sees their own pass and two buttons. Privacy rules for visitors and contractors are not finished, and we would want your HR and security teams in that conversation before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(only if asked). If challenged on a design decision, ask: "Which one would you change?"
NOTE: the script mentions four design rules but never lists them. These four are taken from lines the script itself uses (slides 2, 5 and the Q&amp;A). Confirm the wording with Sam before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 "what about security" or "what if the server goes down."
SAM: These are the first hardening steps for a pilot: each commander and warden signs in with a personal PIN, every reset is logged, phone numbers kept off public screens, an audit log that survives a restart, and alert status that never claims a delivery that did not happen. They are built and tested on a separate branch and are not in the build you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697480"/>
            <a:ext cx="7589520" cy="100584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MusterCommand  ·  working prototype  ·  all data is synthetic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10469880" y="548640"/>
            <a:ext cx="1143000" cy="384048"/>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BACKUP</a:t>
            </a:r>
            <a:endParaRPr lang="en-US" sz="1100" dirty="0"/>
          </a:p>
        </p:txBody>
      </p:sp>
      <p:sp>
        <p:nvSpPr>
          <p:cNvPr id="4"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MusterCommand  ·  working prototype  ·  all data is synthetic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jp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188720"/>
          </a:xfrm>
          <a:prstGeom prst="rect">
            <a:avLst/>
          </a:prstGeom>
          <a:noFill/>
          <a:ln/>
        </p:spPr>
        <p:txBody>
          <a:bodyPr wrap="square" lIns="0" tIns="0" rIns="0" bIns="0" rtlCol="0" anchor="b"/>
          <a:lstStyle/>
          <a:p>
            <a:pPr algn="l" indent="0" marL="0">
              <a:buNone/>
            </a:pPr>
            <a:r>
              <a:rPr lang="en-US" sz="5400" b="1" dirty="0">
                <a:solidFill>
                  <a:schemeClr val="bg1"/>
                </a:solidFill>
              </a:rPr>
              <a:t>MusterCommand</a:t>
            </a:r>
            <a:endParaRPr lang="en-US" sz="5400" dirty="0"/>
          </a:p>
        </p:txBody>
      </p:sp>
      <p:sp>
        <p:nvSpPr>
          <p:cNvPr id="3" name="Text 0"/>
          <p:cNvSpPr/>
          <p:nvPr>
            <p:ph idx="101" type="body" hasCustomPrompt="1"/>
          </p:nvPr>
        </p:nvSpPr>
        <p:spPr>
          <a:xfrm>
            <a:off x="640080" y="2697480"/>
            <a:ext cx="7589520" cy="1005840"/>
          </a:xfrm>
          <a:prstGeom prst="rect">
            <a:avLst/>
          </a:prstGeom>
          <a:noFill/>
          <a:ln/>
        </p:spPr>
        <p:txBody>
          <a:bodyPr wrap="square" lIns="0" tIns="0" rIns="0" bIns="0" rtlCol="0" anchor="t"/>
          <a:lstStyle/>
          <a:p>
            <a:pPr algn="l" indent="0" marL="0">
              <a:buNone/>
            </a:pPr>
            <a:r>
              <a:rPr lang="en-US" sz="2200" dirty="0">
                <a:solidFill>
                  <a:schemeClr val="accent6"/>
                </a:solidFill>
              </a:rPr>
              <a:t>One morning on one floor: Floor 07, Con Edison, 4 Irving Place</a:t>
            </a:r>
            <a:endParaRPr lang="en-US" sz="2200" dirty="0"/>
          </a:p>
        </p:txBody>
      </p:sp>
      <p:sp>
        <p:nvSpPr>
          <p:cNvPr id="4" name="presenters"/>
          <p:cNvSpPr txBox="1"/>
          <p:nvPr/>
        </p:nvSpPr>
        <p:spPr>
          <a:xfrm>
            <a:off x="640080" y="3977640"/>
            <a:ext cx="6400800" cy="365760"/>
          </a:xfrm>
          <a:prstGeom prst="rect">
            <a:avLst/>
          </a:prstGeom>
          <a:noFill/>
          <a:ln/>
        </p:spPr>
        <p:txBody>
          <a:bodyPr wrap="square" lIns="0" tIns="0" rIns="0" bIns="0" rtlCol="0" anchor="ctr"/>
          <a:lstStyle/>
          <a:p>
            <a:pPr indent="0" marL="0">
              <a:buNone/>
            </a:pPr>
            <a:r>
              <a:rPr lang="en-US" sz="1800" b="1" dirty="0">
                <a:solidFill>
                  <a:srgbClr val="FFFFFF"/>
                </a:solidFill>
              </a:rPr>
              <a:t>Robert Petillo  ·  Samuel McFarlane</a:t>
            </a:r>
            <a:endParaRPr lang="en-US" sz="1800" dirty="0"/>
          </a:p>
        </p:txBody>
      </p:sp>
      <p:sp>
        <p:nvSpPr>
          <p:cNvPr id="5" name="event"/>
          <p:cNvSpPr txBox="1"/>
          <p:nvPr/>
        </p:nvSpPr>
        <p:spPr>
          <a:xfrm>
            <a:off x="640080" y="4370832"/>
            <a:ext cx="6400800" cy="320040"/>
          </a:xfrm>
          <a:prstGeom prst="rect">
            <a:avLst/>
          </a:prstGeom>
          <a:noFill/>
          <a:ln/>
        </p:spPr>
        <p:txBody>
          <a:bodyPr wrap="square" lIns="0" tIns="0" rIns="0" bIns="0" rtlCol="0" anchor="ctr"/>
          <a:lstStyle/>
          <a:p>
            <a:pPr indent="0" marL="0">
              <a:buNone/>
            </a:pPr>
            <a:r>
              <a:rPr lang="en-US" sz="1400" dirty="0">
                <a:solidFill>
                  <a:srgbClr val="9CC3EA"/>
                </a:solidFill>
              </a:rPr>
              <a:t>Pursuit AI Native Builder Fellowship  ·  Con Edison Demo Day</a:t>
            </a:r>
            <a:endParaRPr lang="en-US" sz="1400" dirty="0"/>
          </a:p>
        </p:txBody>
      </p:sp>
      <p:sp>
        <p:nvSpPr>
          <p:cNvPr id="6" name="disclosure pill"/>
          <p:cNvSpPr/>
          <p:nvPr/>
        </p:nvSpPr>
        <p:spPr>
          <a:xfrm>
            <a:off x="640080" y="5074920"/>
            <a:ext cx="4480560" cy="457200"/>
          </a:xfrm>
          <a:prstGeom prst="roundRect">
            <a:avLst>
              <a:gd name="adj" fmla="val 50000"/>
            </a:avLst>
          </a:prstGeom>
          <a:solidFill>
            <a:srgbClr val="D97706"/>
          </a:solidFill>
          <a:ln w="12700">
            <a:solidFill>
              <a:srgbClr val="D97706"/>
            </a:solidFill>
            <a:prstDash val="solid"/>
          </a:ln>
        </p:spPr>
      </p:sp>
      <p:sp>
        <p:nvSpPr>
          <p:cNvPr id="7" name="disclosure"/>
          <p:cNvSpPr txBox="1"/>
          <p:nvPr/>
        </p:nvSpPr>
        <p:spPr>
          <a:xfrm>
            <a:off x="640080" y="5074920"/>
            <a:ext cx="4480560" cy="457200"/>
          </a:xfrm>
          <a:prstGeom prst="rect">
            <a:avLst/>
          </a:prstGeom>
          <a:noFill/>
          <a:ln/>
        </p:spPr>
        <p:txBody>
          <a:bodyPr wrap="square" lIns="0" tIns="0" rIns="0" bIns="0" rtlCol="0" anchor="ctr"/>
          <a:lstStyle/>
          <a:p>
            <a:pPr algn="ctr" indent="0" marL="0">
              <a:buNone/>
            </a:pPr>
            <a:r>
              <a:rPr lang="en-US" sz="1400" b="1" dirty="0">
                <a:solidFill>
                  <a:srgbClr val="FFFFFF"/>
                </a:solidFill>
              </a:rPr>
              <a:t>Working prototype  ·  every name and number is made up</a:t>
            </a:r>
            <a:endParaRPr lang="en-US" sz="1400" dirty="0"/>
          </a:p>
        </p:txBody>
      </p:sp>
      <p:sp>
        <p:nvSpPr>
          <p:cNvPr id="8" name="evacuation screen frame"/>
          <p:cNvSpPr/>
          <p:nvPr/>
        </p:nvSpPr>
        <p:spPr>
          <a:xfrm>
            <a:off x="8485632" y="621792"/>
            <a:ext cx="2663248" cy="5614416"/>
          </a:xfrm>
          <a:prstGeom prst="roundRect">
            <a:avLst>
              <a:gd name="adj" fmla="val 5493"/>
            </a:avLst>
          </a:prstGeom>
          <a:solidFill>
            <a:srgbClr val="0B192C"/>
          </a:solidFill>
          <a:ln w="12700">
            <a:solidFill>
              <a:srgbClr val="0B192C"/>
            </a:solidFill>
            <a:prstDash val="solid"/>
          </a:ln>
          <a:effectLst>
            <a:outerShdw sx="100000" sy="100000" kx="0" ky="0" algn="bl" rotWithShape="0" blurRad="101600" dist="25400" dir="5400000">
              <a:srgbClr val="0B192C">
                <a:alpha val="14000"/>
              </a:srgbClr>
            </a:outerShdw>
          </a:effectLst>
        </p:spPr>
      </p:sp>
      <p:pic>
        <p:nvPicPr>
          <p:cNvPr id="9" name="evacuation screen" descr="/home/claude/deck/img/07-phone-evacuate.jpg">    </p:cNvPr>
          <p:cNvPicPr>
            <a:picLocks noChangeAspect="1"/>
          </p:cNvPicPr>
          <p:nvPr/>
        </p:nvPicPr>
        <p:blipFill>
          <a:blip r:embed="rId1"/>
          <a:stretch>
            <a:fillRect/>
          </a:stretch>
        </p:blipFill>
        <p:spPr>
          <a:xfrm>
            <a:off x="8549640" y="685800"/>
            <a:ext cx="2535232" cy="548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Two imperatives, one customer</a:t>
            </a:r>
            <a:endParaRPr lang="en-US" sz="3200" dirty="0"/>
          </a:p>
        </p:txBody>
      </p:sp>
      <p:sp>
        <p:nvSpPr>
          <p:cNvPr id="3" name="card Safety"/>
          <p:cNvSpPr/>
          <p:nvPr/>
        </p:nvSpPr>
        <p:spPr>
          <a:xfrm>
            <a:off x="548640" y="1600200"/>
            <a:ext cx="3429000" cy="4023360"/>
          </a:xfrm>
          <a:prstGeom prst="roundRect">
            <a:avLst>
              <a:gd name="adj" fmla="val 3200"/>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4" name="Safety circle"/>
          <p:cNvSpPr/>
          <p:nvPr/>
        </p:nvSpPr>
        <p:spPr>
          <a:xfrm>
            <a:off x="914400" y="2011680"/>
            <a:ext cx="914400" cy="914400"/>
          </a:xfrm>
          <a:prstGeom prst="ellipse">
            <a:avLst/>
          </a:prstGeom>
          <a:solidFill>
            <a:srgbClr val="005DAA"/>
          </a:solidFill>
          <a:ln w="12700">
            <a:solidFill>
              <a:srgbClr val="005DAA"/>
            </a:solidFill>
            <a:prstDash val="solid"/>
          </a:ln>
        </p:spPr>
      </p:sp>
      <p:pic>
        <p:nvPicPr>
          <p:cNvPr id="5" name="Safety icon" descr="preencoded.png">    </p:cNvPr>
          <p:cNvPicPr>
            <a:picLocks noChangeAspect="1"/>
          </p:cNvPicPr>
          <p:nvPr/>
        </p:nvPicPr>
        <p:blipFill>
          <a:blip r:embed="rId1"/>
          <a:stretch>
            <a:fillRect/>
          </a:stretch>
        </p:blipFill>
        <p:spPr>
          <a:xfrm>
            <a:off x="1143000" y="2240280"/>
            <a:ext cx="457200" cy="457200"/>
          </a:xfrm>
          <a:prstGeom prst="rect">
            <a:avLst/>
          </a:prstGeom>
        </p:spPr>
      </p:pic>
      <p:sp>
        <p:nvSpPr>
          <p:cNvPr id="6" name="Safety heading"/>
          <p:cNvSpPr txBox="1"/>
          <p:nvPr/>
        </p:nvSpPr>
        <p:spPr>
          <a:xfrm>
            <a:off x="914400" y="3063240"/>
            <a:ext cx="2697480" cy="868680"/>
          </a:xfrm>
          <a:prstGeom prst="rect">
            <a:avLst/>
          </a:prstGeom>
          <a:noFill/>
          <a:ln/>
        </p:spPr>
        <p:txBody>
          <a:bodyPr wrap="square" lIns="0" tIns="0" rIns="0" bIns="0" rtlCol="0" anchor="b"/>
          <a:lstStyle/>
          <a:p>
            <a:pPr indent="0" marL="0">
              <a:buNone/>
            </a:pPr>
            <a:r>
              <a:rPr lang="en-US" sz="2200" b="1" dirty="0">
                <a:solidFill>
                  <a:srgbClr val="0B192C"/>
                </a:solidFill>
                <a:latin typeface="Arial" pitchFamily="34" charset="0"/>
                <a:ea typeface="Arial" pitchFamily="34" charset="-122"/>
                <a:cs typeface="Arial" pitchFamily="34" charset="-120"/>
              </a:rPr>
              <a:t>Safety</a:t>
            </a:r>
            <a:endParaRPr lang="en-US" sz="2200" dirty="0"/>
          </a:p>
        </p:txBody>
      </p:sp>
      <p:sp>
        <p:nvSpPr>
          <p:cNvPr id="7" name="Safety text"/>
          <p:cNvSpPr txBox="1"/>
          <p:nvPr/>
        </p:nvSpPr>
        <p:spPr>
          <a:xfrm>
            <a:off x="914400" y="4069080"/>
            <a:ext cx="2697480" cy="1371600"/>
          </a:xfrm>
          <a:prstGeom prst="rect">
            <a:avLst/>
          </a:prstGeom>
          <a:noFill/>
          <a:ln/>
        </p:spPr>
        <p:txBody>
          <a:bodyPr wrap="square" lIns="0" tIns="0" rIns="0" bIns="0" rtlCol="0" anchor="t"/>
          <a:lstStyle/>
          <a:p>
            <a:pPr indent="0" marL="0">
              <a:buNone/>
            </a:pPr>
            <a:r>
              <a:rPr lang="en-US" sz="1600" dirty="0">
                <a:solidFill>
                  <a:srgbClr val="0B192C"/>
                </a:solidFill>
              </a:rPr>
              <a:t>Every person accounted for, in seconds, with a location, not an estimate.</a:t>
            </a:r>
            <a:endParaRPr lang="en-US" sz="1600" dirty="0"/>
          </a:p>
        </p:txBody>
      </p:sp>
      <p:sp>
        <p:nvSpPr>
          <p:cNvPr id="8" name="card Operational excellence"/>
          <p:cNvSpPr/>
          <p:nvPr/>
        </p:nvSpPr>
        <p:spPr>
          <a:xfrm>
            <a:off x="4366260" y="1600200"/>
            <a:ext cx="3429000" cy="4023360"/>
          </a:xfrm>
          <a:prstGeom prst="roundRect">
            <a:avLst>
              <a:gd name="adj" fmla="val 3200"/>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9" name="Operational excellence circle"/>
          <p:cNvSpPr/>
          <p:nvPr/>
        </p:nvSpPr>
        <p:spPr>
          <a:xfrm>
            <a:off x="4732020" y="2011680"/>
            <a:ext cx="914400" cy="914400"/>
          </a:xfrm>
          <a:prstGeom prst="ellipse">
            <a:avLst/>
          </a:prstGeom>
          <a:solidFill>
            <a:srgbClr val="005DAA"/>
          </a:solidFill>
          <a:ln w="12700">
            <a:solidFill>
              <a:srgbClr val="005DAA"/>
            </a:solidFill>
            <a:prstDash val="solid"/>
          </a:ln>
        </p:spPr>
      </p:sp>
      <p:pic>
        <p:nvPicPr>
          <p:cNvPr id="10" name="Operational excellence icon" descr="preencoded.png">    </p:cNvPr>
          <p:cNvPicPr>
            <a:picLocks noChangeAspect="1"/>
          </p:cNvPicPr>
          <p:nvPr/>
        </p:nvPicPr>
        <p:blipFill>
          <a:blip r:embed="rId2"/>
          <a:stretch>
            <a:fillRect/>
          </a:stretch>
        </p:blipFill>
        <p:spPr>
          <a:xfrm>
            <a:off x="4960620" y="2240280"/>
            <a:ext cx="457200" cy="457200"/>
          </a:xfrm>
          <a:prstGeom prst="rect">
            <a:avLst/>
          </a:prstGeom>
        </p:spPr>
      </p:pic>
      <p:sp>
        <p:nvSpPr>
          <p:cNvPr id="11" name="Operational excellence heading"/>
          <p:cNvSpPr txBox="1"/>
          <p:nvPr/>
        </p:nvSpPr>
        <p:spPr>
          <a:xfrm>
            <a:off x="4732020" y="3063240"/>
            <a:ext cx="2697480" cy="868680"/>
          </a:xfrm>
          <a:prstGeom prst="rect">
            <a:avLst/>
          </a:prstGeom>
          <a:noFill/>
          <a:ln/>
        </p:spPr>
        <p:txBody>
          <a:bodyPr wrap="square" lIns="0" tIns="0" rIns="0" bIns="0" rtlCol="0" anchor="b"/>
          <a:lstStyle/>
          <a:p>
            <a:pPr indent="0" marL="0">
              <a:buNone/>
            </a:pPr>
            <a:r>
              <a:rPr lang="en-US" sz="2200" b="1" dirty="0">
                <a:solidFill>
                  <a:srgbClr val="0B192C"/>
                </a:solidFill>
                <a:latin typeface="Arial" pitchFamily="34" charset="0"/>
                <a:ea typeface="Arial" pitchFamily="34" charset="-122"/>
                <a:cs typeface="Arial" pitchFamily="34" charset="-120"/>
              </a:rPr>
              <a:t>Operational excellence</a:t>
            </a:r>
            <a:endParaRPr lang="en-US" sz="2200" dirty="0"/>
          </a:p>
        </p:txBody>
      </p:sp>
      <p:sp>
        <p:nvSpPr>
          <p:cNvPr id="12" name="Operational excellence text"/>
          <p:cNvSpPr txBox="1"/>
          <p:nvPr/>
        </p:nvSpPr>
        <p:spPr>
          <a:xfrm>
            <a:off x="4732020" y="4069080"/>
            <a:ext cx="2697480" cy="1371600"/>
          </a:xfrm>
          <a:prstGeom prst="rect">
            <a:avLst/>
          </a:prstGeom>
          <a:noFill/>
          <a:ln/>
        </p:spPr>
        <p:txBody>
          <a:bodyPr wrap="square" lIns="0" tIns="0" rIns="0" bIns="0" rtlCol="0" anchor="t"/>
          <a:lstStyle/>
          <a:p>
            <a:pPr indent="0" marL="0">
              <a:buNone/>
            </a:pPr>
            <a:r>
              <a:rPr lang="en-US" sz="1600" dirty="0">
                <a:solidFill>
                  <a:srgbClr val="0B192C"/>
                </a:solidFill>
              </a:rPr>
              <a:t>The drill produces its own evidence as it happens, instead of half a day rebuilding what people remember.</a:t>
            </a:r>
            <a:endParaRPr lang="en-US" sz="1600" dirty="0"/>
          </a:p>
        </p:txBody>
      </p:sp>
      <p:sp>
        <p:nvSpPr>
          <p:cNvPr id="13" name="card The person in the stairwell"/>
          <p:cNvSpPr/>
          <p:nvPr/>
        </p:nvSpPr>
        <p:spPr>
          <a:xfrm>
            <a:off x="8183880" y="1600200"/>
            <a:ext cx="3429000" cy="4023360"/>
          </a:xfrm>
          <a:prstGeom prst="roundRect">
            <a:avLst>
              <a:gd name="adj" fmla="val 3200"/>
            </a:avLst>
          </a:prstGeom>
          <a:solidFill>
            <a:srgbClr val="FDF3E6"/>
          </a:solidFill>
          <a:ln w="12700">
            <a:solidFill>
              <a:srgbClr val="FDF3E6"/>
            </a:solidFill>
            <a:prstDash val="solid"/>
          </a:ln>
          <a:effectLst>
            <a:outerShdw sx="100000" sy="100000" kx="0" ky="0" algn="bl" rotWithShape="0" blurRad="101600" dist="25400" dir="5400000">
              <a:srgbClr val="0B192C">
                <a:alpha val="14000"/>
              </a:srgbClr>
            </a:outerShdw>
          </a:effectLst>
        </p:spPr>
      </p:sp>
      <p:sp>
        <p:nvSpPr>
          <p:cNvPr id="14" name="The person in the stairwell circle"/>
          <p:cNvSpPr/>
          <p:nvPr/>
        </p:nvSpPr>
        <p:spPr>
          <a:xfrm>
            <a:off x="8549640" y="2011680"/>
            <a:ext cx="914400" cy="914400"/>
          </a:xfrm>
          <a:prstGeom prst="ellipse">
            <a:avLst/>
          </a:prstGeom>
          <a:solidFill>
            <a:srgbClr val="D97706"/>
          </a:solidFill>
          <a:ln w="12700">
            <a:solidFill>
              <a:srgbClr val="D97706"/>
            </a:solidFill>
            <a:prstDash val="solid"/>
          </a:ln>
        </p:spPr>
      </p:sp>
      <p:pic>
        <p:nvPicPr>
          <p:cNvPr id="15" name="The person in the stairwell icon" descr="preencoded.png">    </p:cNvPr>
          <p:cNvPicPr>
            <a:picLocks noChangeAspect="1"/>
          </p:cNvPicPr>
          <p:nvPr/>
        </p:nvPicPr>
        <p:blipFill>
          <a:blip r:embed="rId3"/>
          <a:stretch>
            <a:fillRect/>
          </a:stretch>
        </p:blipFill>
        <p:spPr>
          <a:xfrm>
            <a:off x="8778240" y="2240280"/>
            <a:ext cx="457200" cy="457200"/>
          </a:xfrm>
          <a:prstGeom prst="rect">
            <a:avLst/>
          </a:prstGeom>
        </p:spPr>
      </p:pic>
      <p:sp>
        <p:nvSpPr>
          <p:cNvPr id="16" name="The person in the stairwell heading"/>
          <p:cNvSpPr txBox="1"/>
          <p:nvPr/>
        </p:nvSpPr>
        <p:spPr>
          <a:xfrm>
            <a:off x="8549640" y="3063240"/>
            <a:ext cx="2697480" cy="868680"/>
          </a:xfrm>
          <a:prstGeom prst="rect">
            <a:avLst/>
          </a:prstGeom>
          <a:noFill/>
          <a:ln/>
        </p:spPr>
        <p:txBody>
          <a:bodyPr wrap="square" lIns="0" tIns="0" rIns="0" bIns="0" rtlCol="0" anchor="b"/>
          <a:lstStyle/>
          <a:p>
            <a:pPr indent="0" marL="0">
              <a:buNone/>
            </a:pPr>
            <a:r>
              <a:rPr lang="en-US" sz="2200" b="1" dirty="0">
                <a:solidFill>
                  <a:srgbClr val="0B192C"/>
                </a:solidFill>
                <a:latin typeface="Arial" pitchFamily="34" charset="0"/>
                <a:ea typeface="Arial" pitchFamily="34" charset="-122"/>
                <a:cs typeface="Arial" pitchFamily="34" charset="-120"/>
              </a:rPr>
              <a:t>The person in the stairwell</a:t>
            </a:r>
            <a:endParaRPr lang="en-US" sz="2200" dirty="0"/>
          </a:p>
        </p:txBody>
      </p:sp>
      <p:sp>
        <p:nvSpPr>
          <p:cNvPr id="17" name="The person in the stairwell text"/>
          <p:cNvSpPr txBox="1"/>
          <p:nvPr/>
        </p:nvSpPr>
        <p:spPr>
          <a:xfrm>
            <a:off x="8549640" y="4069080"/>
            <a:ext cx="2697480" cy="1371600"/>
          </a:xfrm>
          <a:prstGeom prst="rect">
            <a:avLst/>
          </a:prstGeom>
          <a:noFill/>
          <a:ln/>
        </p:spPr>
        <p:txBody>
          <a:bodyPr wrap="square" lIns="0" tIns="0" rIns="0" bIns="0" rtlCol="0" anchor="t"/>
          <a:lstStyle/>
          <a:p>
            <a:pPr indent="0" marL="0">
              <a:buNone/>
            </a:pPr>
            <a:r>
              <a:rPr lang="en-US" sz="1600" dirty="0">
                <a:solidFill>
                  <a:srgbClr val="0B192C"/>
                </a:solidFill>
              </a:rPr>
              <a:t>Employee, contractor or visitor, with no time to learn a tool. One screen, two buttons, no training.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Four minutes to evacuate, twenty to account</a:t>
            </a:r>
            <a:endParaRPr lang="en-US" sz="3200" dirty="0"/>
          </a:p>
        </p:txBody>
      </p:sp>
      <p:sp>
        <p:nvSpPr>
          <p:cNvPr id="3" name="timeline evacuation"/>
          <p:cNvSpPr/>
          <p:nvPr/>
        </p:nvSpPr>
        <p:spPr>
          <a:xfrm>
            <a:off x="1645920" y="2331720"/>
            <a:ext cx="2560320" cy="0"/>
          </a:xfrm>
          <a:prstGeom prst="line">
            <a:avLst/>
          </a:prstGeom>
          <a:noFill/>
          <a:ln w="50800">
            <a:solidFill>
              <a:srgbClr val="005DAA"/>
            </a:solidFill>
            <a:prstDash val="solid"/>
          </a:ln>
        </p:spPr>
      </p:sp>
      <p:sp>
        <p:nvSpPr>
          <p:cNvPr id="4" name="timeline accounting"/>
          <p:cNvSpPr/>
          <p:nvPr/>
        </p:nvSpPr>
        <p:spPr>
          <a:xfrm>
            <a:off x="4206240" y="2331720"/>
            <a:ext cx="6309360" cy="0"/>
          </a:xfrm>
          <a:prstGeom prst="line">
            <a:avLst/>
          </a:prstGeom>
          <a:noFill/>
          <a:ln w="50800">
            <a:solidFill>
              <a:srgbClr val="B91C1C"/>
            </a:solidFill>
            <a:prstDash val="dash"/>
          </a:ln>
        </p:spPr>
      </p:sp>
      <p:sp>
        <p:nvSpPr>
          <p:cNvPr id="5" name="9:42 dot"/>
          <p:cNvSpPr/>
          <p:nvPr/>
        </p:nvSpPr>
        <p:spPr>
          <a:xfrm>
            <a:off x="1481328" y="2167128"/>
            <a:ext cx="329184" cy="329184"/>
          </a:xfrm>
          <a:prstGeom prst="ellipse">
            <a:avLst/>
          </a:prstGeom>
          <a:solidFill>
            <a:srgbClr val="005DAA"/>
          </a:solidFill>
          <a:ln w="38100">
            <a:solidFill>
              <a:srgbClr val="FFFFFF"/>
            </a:solidFill>
            <a:prstDash val="solid"/>
          </a:ln>
        </p:spPr>
      </p:sp>
      <p:sp>
        <p:nvSpPr>
          <p:cNvPr id="6" name="9:42 time"/>
          <p:cNvSpPr txBox="1"/>
          <p:nvPr/>
        </p:nvSpPr>
        <p:spPr>
          <a:xfrm>
            <a:off x="731520" y="1417320"/>
            <a:ext cx="1828800" cy="548640"/>
          </a:xfrm>
          <a:prstGeom prst="rect">
            <a:avLst/>
          </a:prstGeom>
          <a:noFill/>
          <a:ln/>
        </p:spPr>
        <p:txBody>
          <a:bodyPr wrap="square" lIns="0" tIns="0" rIns="0" bIns="0" rtlCol="0" anchor="ctr"/>
          <a:lstStyle/>
          <a:p>
            <a:pPr algn="ctr" indent="0" marL="0">
              <a:buNone/>
            </a:pPr>
            <a:r>
              <a:rPr lang="en-US" sz="3000" b="1" dirty="0">
                <a:solidFill>
                  <a:srgbClr val="005DAA"/>
                </a:solidFill>
                <a:latin typeface="Arial" pitchFamily="34" charset="0"/>
                <a:ea typeface="Arial" pitchFamily="34" charset="-122"/>
                <a:cs typeface="Arial" pitchFamily="34" charset="-120"/>
              </a:rPr>
              <a:t>9:42</a:t>
            </a:r>
            <a:endParaRPr lang="en-US" sz="3000" dirty="0"/>
          </a:p>
        </p:txBody>
      </p:sp>
      <p:sp>
        <p:nvSpPr>
          <p:cNvPr id="7" name="9:42 label"/>
          <p:cNvSpPr txBox="1"/>
          <p:nvPr/>
        </p:nvSpPr>
        <p:spPr>
          <a:xfrm>
            <a:off x="548640" y="2651760"/>
            <a:ext cx="2194560" cy="365760"/>
          </a:xfrm>
          <a:prstGeom prst="rect">
            <a:avLst/>
          </a:prstGeom>
          <a:noFill/>
          <a:ln/>
        </p:spPr>
        <p:txBody>
          <a:bodyPr wrap="square" lIns="0" tIns="0" rIns="0" bIns="0" rtlCol="0" anchor="ctr"/>
          <a:lstStyle/>
          <a:p>
            <a:pPr algn="ctr" indent="0" marL="0">
              <a:buNone/>
            </a:pPr>
            <a:r>
              <a:rPr lang="en-US" sz="1800" b="1" dirty="0">
                <a:solidFill>
                  <a:srgbClr val="0B192C"/>
                </a:solidFill>
              </a:rPr>
              <a:t>Alarm sounds</a:t>
            </a:r>
            <a:endParaRPr lang="en-US" sz="1800" dirty="0"/>
          </a:p>
        </p:txBody>
      </p:sp>
      <p:sp>
        <p:nvSpPr>
          <p:cNvPr id="8" name="9:42 detail"/>
          <p:cNvSpPr txBox="1"/>
          <p:nvPr/>
        </p:nvSpPr>
        <p:spPr>
          <a:xfrm>
            <a:off x="548640" y="3017520"/>
            <a:ext cx="2194560" cy="548640"/>
          </a:xfrm>
          <a:prstGeom prst="rect">
            <a:avLst/>
          </a:prstGeom>
          <a:noFill/>
          <a:ln/>
        </p:spPr>
        <p:txBody>
          <a:bodyPr wrap="square" lIns="0" tIns="0" rIns="0" bIns="0" rtlCol="0" anchor="t"/>
          <a:lstStyle/>
          <a:p>
            <a:pPr algn="ctr" indent="0" marL="0">
              <a:buNone/>
            </a:pPr>
            <a:r>
              <a:rPr lang="en-US" sz="1400" dirty="0">
                <a:solidFill>
                  <a:srgbClr val="64748B"/>
                </a:solidFill>
              </a:rPr>
              <a:t>195 people head for the stairwells</a:t>
            </a:r>
            <a:endParaRPr lang="en-US" sz="1400" dirty="0"/>
          </a:p>
        </p:txBody>
      </p:sp>
      <p:sp>
        <p:nvSpPr>
          <p:cNvPr id="9" name="9:46 dot"/>
          <p:cNvSpPr/>
          <p:nvPr/>
        </p:nvSpPr>
        <p:spPr>
          <a:xfrm>
            <a:off x="4041648" y="2167128"/>
            <a:ext cx="329184" cy="329184"/>
          </a:xfrm>
          <a:prstGeom prst="ellipse">
            <a:avLst/>
          </a:prstGeom>
          <a:solidFill>
            <a:srgbClr val="005DAA"/>
          </a:solidFill>
          <a:ln w="38100">
            <a:solidFill>
              <a:srgbClr val="FFFFFF"/>
            </a:solidFill>
            <a:prstDash val="solid"/>
          </a:ln>
        </p:spPr>
      </p:sp>
      <p:sp>
        <p:nvSpPr>
          <p:cNvPr id="10" name="9:46 time"/>
          <p:cNvSpPr txBox="1"/>
          <p:nvPr/>
        </p:nvSpPr>
        <p:spPr>
          <a:xfrm>
            <a:off x="3291840" y="1417320"/>
            <a:ext cx="1828800" cy="548640"/>
          </a:xfrm>
          <a:prstGeom prst="rect">
            <a:avLst/>
          </a:prstGeom>
          <a:noFill/>
          <a:ln/>
        </p:spPr>
        <p:txBody>
          <a:bodyPr wrap="square" lIns="0" tIns="0" rIns="0" bIns="0" rtlCol="0" anchor="ctr"/>
          <a:lstStyle/>
          <a:p>
            <a:pPr algn="ctr" indent="0" marL="0">
              <a:buNone/>
            </a:pPr>
            <a:r>
              <a:rPr lang="en-US" sz="3000" b="1" dirty="0">
                <a:solidFill>
                  <a:srgbClr val="005DAA"/>
                </a:solidFill>
                <a:latin typeface="Arial" pitchFamily="34" charset="0"/>
                <a:ea typeface="Arial" pitchFamily="34" charset="-122"/>
                <a:cs typeface="Arial" pitchFamily="34" charset="-120"/>
              </a:rPr>
              <a:t>9:46</a:t>
            </a:r>
            <a:endParaRPr lang="en-US" sz="3000" dirty="0"/>
          </a:p>
        </p:txBody>
      </p:sp>
      <p:sp>
        <p:nvSpPr>
          <p:cNvPr id="11" name="9:46 label"/>
          <p:cNvSpPr txBox="1"/>
          <p:nvPr/>
        </p:nvSpPr>
        <p:spPr>
          <a:xfrm>
            <a:off x="3108960" y="2651760"/>
            <a:ext cx="2194560" cy="365760"/>
          </a:xfrm>
          <a:prstGeom prst="rect">
            <a:avLst/>
          </a:prstGeom>
          <a:noFill/>
          <a:ln/>
        </p:spPr>
        <p:txBody>
          <a:bodyPr wrap="square" lIns="0" tIns="0" rIns="0" bIns="0" rtlCol="0" anchor="ctr"/>
          <a:lstStyle/>
          <a:p>
            <a:pPr algn="ctr" indent="0" marL="0">
              <a:buNone/>
            </a:pPr>
            <a:r>
              <a:rPr lang="en-US" sz="1800" b="1" dirty="0">
                <a:solidFill>
                  <a:srgbClr val="0B192C"/>
                </a:solidFill>
              </a:rPr>
              <a:t>Floor clear</a:t>
            </a:r>
            <a:endParaRPr lang="en-US" sz="1800" dirty="0"/>
          </a:p>
        </p:txBody>
      </p:sp>
      <p:sp>
        <p:nvSpPr>
          <p:cNvPr id="12" name="9:46 detail"/>
          <p:cNvSpPr txBox="1"/>
          <p:nvPr/>
        </p:nvSpPr>
        <p:spPr>
          <a:xfrm>
            <a:off x="3108960" y="3017520"/>
            <a:ext cx="2194560" cy="548640"/>
          </a:xfrm>
          <a:prstGeom prst="rect">
            <a:avLst/>
          </a:prstGeom>
          <a:noFill/>
          <a:ln/>
        </p:spPr>
        <p:txBody>
          <a:bodyPr wrap="square" lIns="0" tIns="0" rIns="0" bIns="0" rtlCol="0" anchor="t"/>
          <a:lstStyle/>
          <a:p>
            <a:pPr algn="ctr" indent="0" marL="0">
              <a:buNone/>
            </a:pPr>
            <a:r>
              <a:rPr lang="en-US" sz="1400" dirty="0">
                <a:solidFill>
                  <a:srgbClr val="64748B"/>
                </a:solidFill>
              </a:rPr>
              <a:t>Four minutes. That part works.</a:t>
            </a:r>
            <a:endParaRPr lang="en-US" sz="1400" dirty="0"/>
          </a:p>
        </p:txBody>
      </p:sp>
      <p:sp>
        <p:nvSpPr>
          <p:cNvPr id="13" name="10:06 dot"/>
          <p:cNvSpPr/>
          <p:nvPr/>
        </p:nvSpPr>
        <p:spPr>
          <a:xfrm>
            <a:off x="10351008" y="2167128"/>
            <a:ext cx="329184" cy="329184"/>
          </a:xfrm>
          <a:prstGeom prst="ellipse">
            <a:avLst/>
          </a:prstGeom>
          <a:solidFill>
            <a:srgbClr val="B91C1C"/>
          </a:solidFill>
          <a:ln w="38100">
            <a:solidFill>
              <a:srgbClr val="FFFFFF"/>
            </a:solidFill>
            <a:prstDash val="solid"/>
          </a:ln>
        </p:spPr>
      </p:sp>
      <p:sp>
        <p:nvSpPr>
          <p:cNvPr id="14" name="10:06 time"/>
          <p:cNvSpPr txBox="1"/>
          <p:nvPr/>
        </p:nvSpPr>
        <p:spPr>
          <a:xfrm>
            <a:off x="9601200" y="1417320"/>
            <a:ext cx="1828800" cy="548640"/>
          </a:xfrm>
          <a:prstGeom prst="rect">
            <a:avLst/>
          </a:prstGeom>
          <a:noFill/>
          <a:ln/>
        </p:spPr>
        <p:txBody>
          <a:bodyPr wrap="square" lIns="0" tIns="0" rIns="0" bIns="0" rtlCol="0" anchor="ctr"/>
          <a:lstStyle/>
          <a:p>
            <a:pPr algn="ctr" indent="0" marL="0">
              <a:buNone/>
            </a:pPr>
            <a:r>
              <a:rPr lang="en-US" sz="3000" b="1" dirty="0">
                <a:solidFill>
                  <a:srgbClr val="B91C1C"/>
                </a:solidFill>
                <a:latin typeface="Arial" pitchFamily="34" charset="0"/>
                <a:ea typeface="Arial" pitchFamily="34" charset="-122"/>
                <a:cs typeface="Arial" pitchFamily="34" charset="-120"/>
              </a:rPr>
              <a:t>10:06</a:t>
            </a:r>
            <a:endParaRPr lang="en-US" sz="3000" dirty="0"/>
          </a:p>
        </p:txBody>
      </p:sp>
      <p:sp>
        <p:nvSpPr>
          <p:cNvPr id="15" name="10:06 label"/>
          <p:cNvSpPr txBox="1"/>
          <p:nvPr/>
        </p:nvSpPr>
        <p:spPr>
          <a:xfrm>
            <a:off x="9418320" y="2651760"/>
            <a:ext cx="2194560" cy="365760"/>
          </a:xfrm>
          <a:prstGeom prst="rect">
            <a:avLst/>
          </a:prstGeom>
          <a:noFill/>
          <a:ln/>
        </p:spPr>
        <p:txBody>
          <a:bodyPr wrap="square" lIns="0" tIns="0" rIns="0" bIns="0" rtlCol="0" anchor="ctr"/>
          <a:lstStyle/>
          <a:p>
            <a:pPr algn="ctr" indent="0" marL="0">
              <a:buNone/>
            </a:pPr>
            <a:r>
              <a:rPr lang="en-US" sz="1800" b="1" dirty="0">
                <a:solidFill>
                  <a:srgbClr val="0B192C"/>
                </a:solidFill>
              </a:rPr>
              <a:t>All clear</a:t>
            </a:r>
            <a:endParaRPr lang="en-US" sz="1800" dirty="0"/>
          </a:p>
        </p:txBody>
      </p:sp>
      <p:sp>
        <p:nvSpPr>
          <p:cNvPr id="16" name="10:06 detail"/>
          <p:cNvSpPr txBox="1"/>
          <p:nvPr/>
        </p:nvSpPr>
        <p:spPr>
          <a:xfrm>
            <a:off x="9418320" y="3017520"/>
            <a:ext cx="2194560" cy="548640"/>
          </a:xfrm>
          <a:prstGeom prst="rect">
            <a:avLst/>
          </a:prstGeom>
          <a:noFill/>
          <a:ln/>
        </p:spPr>
        <p:txBody>
          <a:bodyPr wrap="square" lIns="0" tIns="0" rIns="0" bIns="0" rtlCol="0" anchor="t"/>
          <a:lstStyle/>
          <a:p>
            <a:pPr algn="ctr" indent="0" marL="0">
              <a:buNone/>
            </a:pPr>
            <a:r>
              <a:rPr lang="en-US" sz="1400" dirty="0">
                <a:solidFill>
                  <a:srgbClr val="64748B"/>
                </a:solidFill>
              </a:rPr>
              <a:t>24 minutes after the alarm</a:t>
            </a:r>
            <a:endParaRPr lang="en-US" sz="1400" dirty="0"/>
          </a:p>
        </p:txBody>
      </p:sp>
      <p:sp>
        <p:nvSpPr>
          <p:cNvPr id="17" name="gap callout"/>
          <p:cNvSpPr/>
          <p:nvPr/>
        </p:nvSpPr>
        <p:spPr>
          <a:xfrm>
            <a:off x="5486400" y="2697480"/>
            <a:ext cx="3840480" cy="868680"/>
          </a:xfrm>
          <a:prstGeom prst="roundRect">
            <a:avLst>
              <a:gd name="adj" fmla="val 12632"/>
            </a:avLst>
          </a:prstGeom>
          <a:solidFill>
            <a:srgbClr val="FBECEC"/>
          </a:solidFill>
          <a:ln w="12700">
            <a:solidFill>
              <a:srgbClr val="FBECEC"/>
            </a:solidFill>
            <a:prstDash val="solid"/>
          </a:ln>
          <a:effectLst>
            <a:outerShdw sx="100000" sy="100000" kx="0" ky="0" algn="bl" rotWithShape="0" blurRad="101600" dist="25400" dir="5400000">
              <a:srgbClr val="0B192C">
                <a:alpha val="14000"/>
              </a:srgbClr>
            </a:outerShdw>
          </a:effectLst>
        </p:spPr>
      </p:sp>
      <p:sp>
        <p:nvSpPr>
          <p:cNvPr id="18" name="gap text"/>
          <p:cNvSpPr txBox="1"/>
          <p:nvPr/>
        </p:nvSpPr>
        <p:spPr>
          <a:xfrm>
            <a:off x="5623560" y="2697480"/>
            <a:ext cx="3566160" cy="868680"/>
          </a:xfrm>
          <a:prstGeom prst="rect">
            <a:avLst/>
          </a:prstGeom>
          <a:noFill/>
          <a:ln/>
        </p:spPr>
        <p:txBody>
          <a:bodyPr wrap="square" lIns="0" tIns="0" rIns="0" bIns="0" rtlCol="0" anchor="ctr"/>
          <a:lstStyle/>
          <a:p>
            <a:pPr algn="ctr" indent="0" marL="0">
              <a:buNone/>
            </a:pPr>
            <a:r>
              <a:rPr lang="en-US" sz="1500" b="1" dirty="0">
                <a:solidFill>
                  <a:srgbClr val="B91C1C"/>
                </a:solidFill>
              </a:rPr>
              <a:t>20 minutes: no one can say who is safe, missing, or needs help</a:t>
            </a:r>
            <a:endParaRPr lang="en-US" sz="1500" dirty="0"/>
          </a:p>
        </p:txBody>
      </p:sp>
      <p:sp>
        <p:nvSpPr>
          <p:cNvPr id="19" name="gap card 0"/>
          <p:cNvSpPr/>
          <p:nvPr/>
        </p:nvSpPr>
        <p:spPr>
          <a:xfrm>
            <a:off x="548640" y="4023360"/>
            <a:ext cx="3429000" cy="1828800"/>
          </a:xfrm>
          <a:prstGeom prst="roundRect">
            <a:avLst>
              <a:gd name="adj" fmla="val 6000"/>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20" name="gap 0 circle"/>
          <p:cNvSpPr/>
          <p:nvPr/>
        </p:nvSpPr>
        <p:spPr>
          <a:xfrm>
            <a:off x="822960" y="4297680"/>
            <a:ext cx="640080" cy="640080"/>
          </a:xfrm>
          <a:prstGeom prst="ellipse">
            <a:avLst/>
          </a:prstGeom>
          <a:solidFill>
            <a:srgbClr val="B91C1C"/>
          </a:solidFill>
          <a:ln w="12700">
            <a:solidFill>
              <a:srgbClr val="B91C1C"/>
            </a:solidFill>
            <a:prstDash val="solid"/>
          </a:ln>
        </p:spPr>
      </p:sp>
      <p:pic>
        <p:nvPicPr>
          <p:cNvPr id="21" name="gap 0 icon" descr="preencoded.png">    </p:cNvPr>
          <p:cNvPicPr>
            <a:picLocks noChangeAspect="1"/>
          </p:cNvPicPr>
          <p:nvPr/>
        </p:nvPicPr>
        <p:blipFill>
          <a:blip r:embed="rId1"/>
          <a:stretch>
            <a:fillRect/>
          </a:stretch>
        </p:blipFill>
        <p:spPr>
          <a:xfrm>
            <a:off x="982980" y="4457700"/>
            <a:ext cx="320040" cy="320040"/>
          </a:xfrm>
          <a:prstGeom prst="rect">
            <a:avLst/>
          </a:prstGeom>
        </p:spPr>
      </p:pic>
      <p:sp>
        <p:nvSpPr>
          <p:cNvPr id="22" name="gap head 0"/>
          <p:cNvSpPr txBox="1"/>
          <p:nvPr/>
        </p:nvSpPr>
        <p:spPr>
          <a:xfrm>
            <a:off x="1600200" y="4297680"/>
            <a:ext cx="2148840" cy="640080"/>
          </a:xfrm>
          <a:prstGeom prst="rect">
            <a:avLst/>
          </a:prstGeom>
          <a:noFill/>
          <a:ln/>
        </p:spPr>
        <p:txBody>
          <a:bodyPr wrap="square" lIns="0" tIns="0" rIns="0" bIns="0" rtlCol="0" anchor="ctr"/>
          <a:lstStyle/>
          <a:p>
            <a:pPr indent="0" marL="0">
              <a:buNone/>
            </a:pPr>
            <a:r>
              <a:rPr lang="en-US" sz="1600" b="1" dirty="0">
                <a:solidFill>
                  <a:srgbClr val="0B192C"/>
                </a:solidFill>
              </a:rPr>
              <a:t>A roster printed at 8:00</a:t>
            </a:r>
            <a:endParaRPr lang="en-US" sz="1600" dirty="0"/>
          </a:p>
        </p:txBody>
      </p:sp>
      <p:sp>
        <p:nvSpPr>
          <p:cNvPr id="23" name="gap body 0"/>
          <p:cNvSpPr txBox="1"/>
          <p:nvPr/>
        </p:nvSpPr>
        <p:spPr>
          <a:xfrm>
            <a:off x="822960" y="5047488"/>
            <a:ext cx="2880360" cy="731520"/>
          </a:xfrm>
          <a:prstGeom prst="rect">
            <a:avLst/>
          </a:prstGeom>
          <a:noFill/>
          <a:ln/>
        </p:spPr>
        <p:txBody>
          <a:bodyPr wrap="square" lIns="0" tIns="0" rIns="0" bIns="0" rtlCol="0" anchor="t"/>
          <a:lstStyle/>
          <a:p>
            <a:pPr indent="0" marL="0">
              <a:buNone/>
            </a:pPr>
            <a:r>
              <a:rPr lang="en-US" sz="1400" dirty="0">
                <a:solidFill>
                  <a:srgbClr val="0B192C"/>
                </a:solidFill>
              </a:rPr>
              <a:t>Staff leads reach the street with this morning's paper list.</a:t>
            </a:r>
            <a:endParaRPr lang="en-US" sz="1400" dirty="0"/>
          </a:p>
        </p:txBody>
      </p:sp>
      <p:sp>
        <p:nvSpPr>
          <p:cNvPr id="24" name="gap card 1"/>
          <p:cNvSpPr/>
          <p:nvPr/>
        </p:nvSpPr>
        <p:spPr>
          <a:xfrm>
            <a:off x="4366260" y="4023360"/>
            <a:ext cx="3429000" cy="1828800"/>
          </a:xfrm>
          <a:prstGeom prst="roundRect">
            <a:avLst>
              <a:gd name="adj" fmla="val 6000"/>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25" name="gap 1 circle"/>
          <p:cNvSpPr/>
          <p:nvPr/>
        </p:nvSpPr>
        <p:spPr>
          <a:xfrm>
            <a:off x="4640580" y="4297680"/>
            <a:ext cx="640080" cy="640080"/>
          </a:xfrm>
          <a:prstGeom prst="ellipse">
            <a:avLst/>
          </a:prstGeom>
          <a:solidFill>
            <a:srgbClr val="B91C1C"/>
          </a:solidFill>
          <a:ln w="12700">
            <a:solidFill>
              <a:srgbClr val="B91C1C"/>
            </a:solidFill>
            <a:prstDash val="solid"/>
          </a:ln>
        </p:spPr>
      </p:sp>
      <p:pic>
        <p:nvPicPr>
          <p:cNvPr id="26" name="gap 1 icon" descr="preencoded.png">    </p:cNvPr>
          <p:cNvPicPr>
            <a:picLocks noChangeAspect="1"/>
          </p:cNvPicPr>
          <p:nvPr/>
        </p:nvPicPr>
        <p:blipFill>
          <a:blip r:embed="rId2"/>
          <a:stretch>
            <a:fillRect/>
          </a:stretch>
        </p:blipFill>
        <p:spPr>
          <a:xfrm>
            <a:off x="4800600" y="4457700"/>
            <a:ext cx="320040" cy="320040"/>
          </a:xfrm>
          <a:prstGeom prst="rect">
            <a:avLst/>
          </a:prstGeom>
        </p:spPr>
      </p:pic>
      <p:sp>
        <p:nvSpPr>
          <p:cNvPr id="27" name="gap head 1"/>
          <p:cNvSpPr txBox="1"/>
          <p:nvPr/>
        </p:nvSpPr>
        <p:spPr>
          <a:xfrm>
            <a:off x="5417820" y="4297680"/>
            <a:ext cx="2148840" cy="640080"/>
          </a:xfrm>
          <a:prstGeom prst="rect">
            <a:avLst/>
          </a:prstGeom>
          <a:noFill/>
          <a:ln/>
        </p:spPr>
        <p:txBody>
          <a:bodyPr wrap="square" lIns="0" tIns="0" rIns="0" bIns="0" rtlCol="0" anchor="ctr"/>
          <a:lstStyle/>
          <a:p>
            <a:pPr indent="0" marL="0">
              <a:buNone/>
            </a:pPr>
            <a:r>
              <a:rPr lang="en-US" sz="1600" b="1" dirty="0">
                <a:solidFill>
                  <a:srgbClr val="0B192C"/>
                </a:solidFill>
              </a:rPr>
              <a:t>One radio channel</a:t>
            </a:r>
            <a:endParaRPr lang="en-US" sz="1600" dirty="0"/>
          </a:p>
        </p:txBody>
      </p:sp>
      <p:sp>
        <p:nvSpPr>
          <p:cNvPr id="28" name="gap body 1"/>
          <p:cNvSpPr txBox="1"/>
          <p:nvPr/>
        </p:nvSpPr>
        <p:spPr>
          <a:xfrm>
            <a:off x="4640580" y="5047488"/>
            <a:ext cx="2880360" cy="731520"/>
          </a:xfrm>
          <a:prstGeom prst="rect">
            <a:avLst/>
          </a:prstGeom>
          <a:noFill/>
          <a:ln/>
        </p:spPr>
        <p:txBody>
          <a:bodyPr wrap="square" lIns="0" tIns="0" rIns="0" bIns="0" rtlCol="0" anchor="t"/>
          <a:lstStyle/>
          <a:p>
            <a:pPr indent="0" marL="0">
              <a:buNone/>
            </a:pPr>
            <a:r>
              <a:rPr lang="en-US" sz="1400" dirty="0">
                <a:solidFill>
                  <a:srgbClr val="0B192C"/>
                </a:solidFill>
              </a:rPr>
              <a:t>Headcounts come in one quadrant at a time.</a:t>
            </a:r>
            <a:endParaRPr lang="en-US" sz="1400" dirty="0"/>
          </a:p>
        </p:txBody>
      </p:sp>
      <p:sp>
        <p:nvSpPr>
          <p:cNvPr id="29" name="gap card 2"/>
          <p:cNvSpPr/>
          <p:nvPr/>
        </p:nvSpPr>
        <p:spPr>
          <a:xfrm>
            <a:off x="8183880" y="4023360"/>
            <a:ext cx="3429000" cy="1828800"/>
          </a:xfrm>
          <a:prstGeom prst="roundRect">
            <a:avLst>
              <a:gd name="adj" fmla="val 6000"/>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30" name="gap 2 circle"/>
          <p:cNvSpPr/>
          <p:nvPr/>
        </p:nvSpPr>
        <p:spPr>
          <a:xfrm>
            <a:off x="8458200" y="4297680"/>
            <a:ext cx="640080" cy="640080"/>
          </a:xfrm>
          <a:prstGeom prst="ellipse">
            <a:avLst/>
          </a:prstGeom>
          <a:solidFill>
            <a:srgbClr val="B91C1C"/>
          </a:solidFill>
          <a:ln w="12700">
            <a:solidFill>
              <a:srgbClr val="B91C1C"/>
            </a:solidFill>
            <a:prstDash val="solid"/>
          </a:ln>
        </p:spPr>
      </p:sp>
      <p:pic>
        <p:nvPicPr>
          <p:cNvPr id="31" name="gap 2 icon" descr="preencoded.png">    </p:cNvPr>
          <p:cNvPicPr>
            <a:picLocks noChangeAspect="1"/>
          </p:cNvPicPr>
          <p:nvPr/>
        </p:nvPicPr>
        <p:blipFill>
          <a:blip r:embed="rId3"/>
          <a:stretch>
            <a:fillRect/>
          </a:stretch>
        </p:blipFill>
        <p:spPr>
          <a:xfrm>
            <a:off x="8618220" y="4457700"/>
            <a:ext cx="320040" cy="320040"/>
          </a:xfrm>
          <a:prstGeom prst="rect">
            <a:avLst/>
          </a:prstGeom>
        </p:spPr>
      </p:pic>
      <p:sp>
        <p:nvSpPr>
          <p:cNvPr id="32" name="gap head 2"/>
          <p:cNvSpPr txBox="1"/>
          <p:nvPr/>
        </p:nvSpPr>
        <p:spPr>
          <a:xfrm>
            <a:off x="9235440" y="4297680"/>
            <a:ext cx="2148840" cy="640080"/>
          </a:xfrm>
          <a:prstGeom prst="rect">
            <a:avLst/>
          </a:prstGeom>
          <a:noFill/>
          <a:ln/>
        </p:spPr>
        <p:txBody>
          <a:bodyPr wrap="square" lIns="0" tIns="0" rIns="0" bIns="0" rtlCol="0" anchor="ctr"/>
          <a:lstStyle/>
          <a:p>
            <a:pPr indent="0" marL="0">
              <a:buNone/>
            </a:pPr>
            <a:r>
              <a:rPr lang="en-US" sz="1600" b="1" dirty="0">
                <a:solidFill>
                  <a:srgbClr val="0B192C"/>
                </a:solidFill>
              </a:rPr>
              <a:t>Two names unaccounted for</a:t>
            </a:r>
            <a:endParaRPr lang="en-US" sz="1600" dirty="0"/>
          </a:p>
        </p:txBody>
      </p:sp>
      <p:sp>
        <p:nvSpPr>
          <p:cNvPr id="33" name="gap body 2"/>
          <p:cNvSpPr txBox="1"/>
          <p:nvPr/>
        </p:nvSpPr>
        <p:spPr>
          <a:xfrm>
            <a:off x="8458200" y="5047488"/>
            <a:ext cx="2880360" cy="731520"/>
          </a:xfrm>
          <a:prstGeom prst="rect">
            <a:avLst/>
          </a:prstGeom>
          <a:noFill/>
          <a:ln/>
        </p:spPr>
        <p:txBody>
          <a:bodyPr wrap="square" lIns="0" tIns="0" rIns="0" bIns="0" rtlCol="0" anchor="t"/>
          <a:lstStyle/>
          <a:p>
            <a:pPr indent="0" marL="0">
              <a:buNone/>
            </a:pPr>
            <a:r>
              <a:rPr lang="en-US" sz="1400" dirty="0">
                <a:solidFill>
                  <a:srgbClr val="0B192C"/>
                </a:solidFill>
              </a:rPr>
              <a:t>A staff lead goes back up to check. The only record is a handwritten sheet.</a:t>
            </a:r>
            <a:endParaRPr lang="en-US" sz="1400" dirty="0"/>
          </a:p>
        </p:txBody>
      </p:sp>
      <p:sp>
        <p:nvSpPr>
          <p:cNvPr id="34" name="caveat"/>
          <p:cNvSpPr txBox="1"/>
          <p:nvPr/>
        </p:nvSpPr>
        <p:spPr>
          <a:xfrm>
            <a:off x="548640" y="5989320"/>
            <a:ext cx="9144000" cy="274320"/>
          </a:xfrm>
          <a:prstGeom prst="rect">
            <a:avLst/>
          </a:prstGeom>
          <a:noFill/>
          <a:ln/>
        </p:spPr>
        <p:txBody>
          <a:bodyPr wrap="square" lIns="0" tIns="0" rIns="0" bIns="0" rtlCol="0" anchor="ctr"/>
          <a:lstStyle/>
          <a:p>
            <a:pPr indent="0" marL="0">
              <a:buNone/>
            </a:pPr>
            <a:r>
              <a:rPr lang="en-US" sz="1100" i="1" dirty="0">
                <a:solidFill>
                  <a:srgbClr val="64748B"/>
                </a:solidFill>
              </a:rPr>
              <a:t>Illustrative timings on a synthetic floor. Your drill records give the real numbers.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Same alarm, everyone signed in that morning</a:t>
            </a:r>
            <a:endParaRPr lang="en-US" sz="3200" dirty="0"/>
          </a:p>
        </p:txBody>
      </p:sp>
      <p:sp>
        <p:nvSpPr>
          <p:cNvPr id="3" name="steps line"/>
          <p:cNvSpPr/>
          <p:nvPr/>
        </p:nvSpPr>
        <p:spPr>
          <a:xfrm>
            <a:off x="1417320" y="1691640"/>
            <a:ext cx="0" cy="3511296"/>
          </a:xfrm>
          <a:prstGeom prst="line">
            <a:avLst/>
          </a:prstGeom>
          <a:noFill/>
          <a:ln w="38100">
            <a:solidFill>
              <a:srgbClr val="9CC3EA"/>
            </a:solidFill>
            <a:prstDash val="solid"/>
          </a:ln>
        </p:spPr>
      </p:sp>
      <p:sp>
        <p:nvSpPr>
          <p:cNvPr id="4" name="8:00 pill"/>
          <p:cNvSpPr/>
          <p:nvPr/>
        </p:nvSpPr>
        <p:spPr>
          <a:xfrm>
            <a:off x="548640" y="1463040"/>
            <a:ext cx="1737360" cy="457200"/>
          </a:xfrm>
          <a:prstGeom prst="roundRect">
            <a:avLst>
              <a:gd name="adj" fmla="val 50000"/>
            </a:avLst>
          </a:prstGeom>
          <a:solidFill>
            <a:srgbClr val="005DAA"/>
          </a:solidFill>
          <a:ln w="25400">
            <a:solidFill>
              <a:srgbClr val="FFFFFF"/>
            </a:solidFill>
            <a:prstDash val="solid"/>
          </a:ln>
        </p:spPr>
      </p:sp>
      <p:sp>
        <p:nvSpPr>
          <p:cNvPr id="5" name="8:00 time"/>
          <p:cNvSpPr txBox="1"/>
          <p:nvPr/>
        </p:nvSpPr>
        <p:spPr>
          <a:xfrm>
            <a:off x="548640" y="1463040"/>
            <a:ext cx="17373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8:00</a:t>
            </a:r>
            <a:endParaRPr lang="en-US" sz="1800" dirty="0"/>
          </a:p>
        </p:txBody>
      </p:sp>
      <p:sp>
        <p:nvSpPr>
          <p:cNvPr id="6" name="8:00 heading"/>
          <p:cNvSpPr txBox="1"/>
          <p:nvPr/>
        </p:nvSpPr>
        <p:spPr>
          <a:xfrm>
            <a:off x="2514600" y="1444752"/>
            <a:ext cx="4206240" cy="384048"/>
          </a:xfrm>
          <a:prstGeom prst="rect">
            <a:avLst/>
          </a:prstGeom>
          <a:noFill/>
          <a:ln/>
        </p:spPr>
        <p:txBody>
          <a:bodyPr wrap="square" lIns="0" tIns="0" rIns="0" bIns="0" rtlCol="0" anchor="ctr"/>
          <a:lstStyle/>
          <a:p>
            <a:pPr indent="0" marL="0">
              <a:buNone/>
            </a:pPr>
            <a:r>
              <a:rPr lang="en-US" sz="1800" b="1" dirty="0">
                <a:solidFill>
                  <a:srgbClr val="0B192C"/>
                </a:solidFill>
              </a:rPr>
              <a:t>Everyone scans in</a:t>
            </a:r>
            <a:endParaRPr lang="en-US" sz="1800" dirty="0"/>
          </a:p>
        </p:txBody>
      </p:sp>
      <p:sp>
        <p:nvSpPr>
          <p:cNvPr id="7" name="8:00 text"/>
          <p:cNvSpPr txBox="1"/>
          <p:nvPr/>
        </p:nvSpPr>
        <p:spPr>
          <a:xfrm>
            <a:off x="2514600" y="1828800"/>
            <a:ext cx="4206240" cy="713232"/>
          </a:xfrm>
          <a:prstGeom prst="rect">
            <a:avLst/>
          </a:prstGeom>
          <a:noFill/>
          <a:ln/>
        </p:spPr>
        <p:txBody>
          <a:bodyPr wrap="square" lIns="0" tIns="0" rIns="0" bIns="0" rtlCol="0" anchor="t"/>
          <a:lstStyle/>
          <a:p>
            <a:pPr indent="0" marL="0">
              <a:buNone/>
            </a:pPr>
            <a:r>
              <a:rPr lang="en-US" sz="1400" dirty="0">
                <a:solidFill>
                  <a:srgbClr val="0B192C"/>
                </a:solidFill>
              </a:rPr>
              <a:t>QR at the entrance, badge or visitor pass, about two seconds. On the live roster before any alarm.</a:t>
            </a:r>
            <a:endParaRPr lang="en-US" sz="1400" dirty="0"/>
          </a:p>
        </p:txBody>
      </p:sp>
      <p:sp>
        <p:nvSpPr>
          <p:cNvPr id="8" name="9:42 pill"/>
          <p:cNvSpPr/>
          <p:nvPr/>
        </p:nvSpPr>
        <p:spPr>
          <a:xfrm>
            <a:off x="548640" y="2633472"/>
            <a:ext cx="1737360" cy="457200"/>
          </a:xfrm>
          <a:prstGeom prst="roundRect">
            <a:avLst>
              <a:gd name="adj" fmla="val 50000"/>
            </a:avLst>
          </a:prstGeom>
          <a:solidFill>
            <a:srgbClr val="005DAA"/>
          </a:solidFill>
          <a:ln w="25400">
            <a:solidFill>
              <a:srgbClr val="FFFFFF"/>
            </a:solidFill>
            <a:prstDash val="solid"/>
          </a:ln>
        </p:spPr>
      </p:sp>
      <p:sp>
        <p:nvSpPr>
          <p:cNvPr id="9" name="9:42 time"/>
          <p:cNvSpPr txBox="1"/>
          <p:nvPr/>
        </p:nvSpPr>
        <p:spPr>
          <a:xfrm>
            <a:off x="548640" y="2633472"/>
            <a:ext cx="17373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9:42</a:t>
            </a:r>
            <a:endParaRPr lang="en-US" sz="1800" dirty="0"/>
          </a:p>
        </p:txBody>
      </p:sp>
      <p:sp>
        <p:nvSpPr>
          <p:cNvPr id="10" name="9:42 heading"/>
          <p:cNvSpPr txBox="1"/>
          <p:nvPr/>
        </p:nvSpPr>
        <p:spPr>
          <a:xfrm>
            <a:off x="2514600" y="2615184"/>
            <a:ext cx="4206240" cy="384048"/>
          </a:xfrm>
          <a:prstGeom prst="rect">
            <a:avLst/>
          </a:prstGeom>
          <a:noFill/>
          <a:ln/>
        </p:spPr>
        <p:txBody>
          <a:bodyPr wrap="square" lIns="0" tIns="0" rIns="0" bIns="0" rtlCol="0" anchor="ctr"/>
          <a:lstStyle/>
          <a:p>
            <a:pPr indent="0" marL="0">
              <a:buNone/>
            </a:pPr>
            <a:r>
              <a:rPr lang="en-US" sz="1800" b="1" dirty="0">
                <a:solidFill>
                  <a:srgbClr val="0B192C"/>
                </a:solidFill>
              </a:rPr>
              <a:t>Staff lead declares</a:t>
            </a:r>
            <a:endParaRPr lang="en-US" sz="1800" dirty="0"/>
          </a:p>
        </p:txBody>
      </p:sp>
      <p:sp>
        <p:nvSpPr>
          <p:cNvPr id="11" name="9:42 text"/>
          <p:cNvSpPr txBox="1"/>
          <p:nvPr/>
        </p:nvSpPr>
        <p:spPr>
          <a:xfrm>
            <a:off x="2514600" y="2999232"/>
            <a:ext cx="4206240" cy="713232"/>
          </a:xfrm>
          <a:prstGeom prst="rect">
            <a:avLst/>
          </a:prstGeom>
          <a:noFill/>
          <a:ln/>
        </p:spPr>
        <p:txBody>
          <a:bodyPr wrap="square" lIns="0" tIns="0" rIns="0" bIns="0" rtlCol="0" anchor="t"/>
          <a:lstStyle/>
          <a:p>
            <a:pPr indent="0" marL="0">
              <a:buNone/>
            </a:pPr>
            <a:r>
              <a:rPr lang="en-US" sz="1400" dirty="0">
                <a:solidFill>
                  <a:srgbClr val="0B192C"/>
                </a:solidFill>
              </a:rPr>
              <a:t>Every signed-in phone switches to evacuation, with the stairwell and meeting point on screen.</a:t>
            </a:r>
            <a:endParaRPr lang="en-US" sz="1400" dirty="0"/>
          </a:p>
        </p:txBody>
      </p:sp>
      <p:sp>
        <p:nvSpPr>
          <p:cNvPr id="12" name="9:46 pill"/>
          <p:cNvSpPr/>
          <p:nvPr/>
        </p:nvSpPr>
        <p:spPr>
          <a:xfrm>
            <a:off x="548640" y="3803904"/>
            <a:ext cx="1737360" cy="457200"/>
          </a:xfrm>
          <a:prstGeom prst="roundRect">
            <a:avLst>
              <a:gd name="adj" fmla="val 50000"/>
            </a:avLst>
          </a:prstGeom>
          <a:solidFill>
            <a:srgbClr val="005DAA"/>
          </a:solidFill>
          <a:ln w="25400">
            <a:solidFill>
              <a:srgbClr val="FFFFFF"/>
            </a:solidFill>
            <a:prstDash val="solid"/>
          </a:ln>
        </p:spPr>
      </p:sp>
      <p:sp>
        <p:nvSpPr>
          <p:cNvPr id="13" name="9:46 time"/>
          <p:cNvSpPr txBox="1"/>
          <p:nvPr/>
        </p:nvSpPr>
        <p:spPr>
          <a:xfrm>
            <a:off x="548640" y="3803904"/>
            <a:ext cx="17373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9:46</a:t>
            </a:r>
            <a:endParaRPr lang="en-US" sz="1800" dirty="0"/>
          </a:p>
        </p:txBody>
      </p:sp>
      <p:sp>
        <p:nvSpPr>
          <p:cNvPr id="14" name="9:46 heading"/>
          <p:cNvSpPr txBox="1"/>
          <p:nvPr/>
        </p:nvSpPr>
        <p:spPr>
          <a:xfrm>
            <a:off x="2514600" y="3785616"/>
            <a:ext cx="4206240" cy="384048"/>
          </a:xfrm>
          <a:prstGeom prst="rect">
            <a:avLst/>
          </a:prstGeom>
          <a:noFill/>
          <a:ln/>
        </p:spPr>
        <p:txBody>
          <a:bodyPr wrap="square" lIns="0" tIns="0" rIns="0" bIns="0" rtlCol="0" anchor="ctr"/>
          <a:lstStyle/>
          <a:p>
            <a:pPr indent="0" marL="0">
              <a:buNone/>
            </a:pPr>
            <a:r>
              <a:rPr lang="en-US" sz="1800" b="1" dirty="0">
                <a:solidFill>
                  <a:srgbClr val="0B192C"/>
                </a:solidFill>
              </a:rPr>
              <a:t>Floor clear</a:t>
            </a:r>
            <a:endParaRPr lang="en-US" sz="1800" dirty="0"/>
          </a:p>
        </p:txBody>
      </p:sp>
      <p:sp>
        <p:nvSpPr>
          <p:cNvPr id="15" name="9:46 text"/>
          <p:cNvSpPr txBox="1"/>
          <p:nvPr/>
        </p:nvSpPr>
        <p:spPr>
          <a:xfrm>
            <a:off x="2514600" y="4169664"/>
            <a:ext cx="4206240" cy="713232"/>
          </a:xfrm>
          <a:prstGeom prst="rect">
            <a:avLst/>
          </a:prstGeom>
          <a:noFill/>
          <a:ln/>
        </p:spPr>
        <p:txBody>
          <a:bodyPr wrap="square" lIns="0" tIns="0" rIns="0" bIns="0" rtlCol="0" anchor="t"/>
          <a:lstStyle/>
          <a:p>
            <a:pPr indent="0" marL="0">
              <a:buNone/>
            </a:pPr>
            <a:r>
              <a:rPr lang="en-US" sz="1400" dirty="0">
                <a:solidFill>
                  <a:srgbClr val="0B192C"/>
                </a:solidFill>
              </a:rPr>
              <a:t>The same four minutes. People do not walk faster.</a:t>
            </a:r>
            <a:endParaRPr lang="en-US" sz="1400" dirty="0"/>
          </a:p>
        </p:txBody>
      </p:sp>
      <p:sp>
        <p:nvSpPr>
          <p:cNvPr id="16" name="9:50 pill"/>
          <p:cNvSpPr/>
          <p:nvPr/>
        </p:nvSpPr>
        <p:spPr>
          <a:xfrm>
            <a:off x="548640" y="4974336"/>
            <a:ext cx="1737360" cy="457200"/>
          </a:xfrm>
          <a:prstGeom prst="roundRect">
            <a:avLst>
              <a:gd name="adj" fmla="val 50000"/>
            </a:avLst>
          </a:prstGeom>
          <a:solidFill>
            <a:srgbClr val="0F7B53"/>
          </a:solidFill>
          <a:ln w="25400">
            <a:solidFill>
              <a:srgbClr val="FFFFFF"/>
            </a:solidFill>
            <a:prstDash val="solid"/>
          </a:ln>
        </p:spPr>
      </p:sp>
      <p:sp>
        <p:nvSpPr>
          <p:cNvPr id="17" name="9:50 time"/>
          <p:cNvSpPr txBox="1"/>
          <p:nvPr/>
        </p:nvSpPr>
        <p:spPr>
          <a:xfrm>
            <a:off x="548640" y="4974336"/>
            <a:ext cx="17373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9:50</a:t>
            </a:r>
            <a:endParaRPr lang="en-US" sz="1800" dirty="0"/>
          </a:p>
        </p:txBody>
      </p:sp>
      <p:sp>
        <p:nvSpPr>
          <p:cNvPr id="18" name="9:50 heading"/>
          <p:cNvSpPr txBox="1"/>
          <p:nvPr/>
        </p:nvSpPr>
        <p:spPr>
          <a:xfrm>
            <a:off x="2514600" y="4956048"/>
            <a:ext cx="4206240" cy="384048"/>
          </a:xfrm>
          <a:prstGeom prst="rect">
            <a:avLst/>
          </a:prstGeom>
          <a:noFill/>
          <a:ln/>
        </p:spPr>
        <p:txBody>
          <a:bodyPr wrap="square" lIns="0" tIns="0" rIns="0" bIns="0" rtlCol="0" anchor="ctr"/>
          <a:lstStyle/>
          <a:p>
            <a:pPr indent="0" marL="0">
              <a:buNone/>
            </a:pPr>
            <a:r>
              <a:rPr lang="en-US" sz="1800" b="1" dirty="0">
                <a:solidFill>
                  <a:srgbClr val="0B192C"/>
                </a:solidFill>
              </a:rPr>
              <a:t>Everyone accounted for</a:t>
            </a:r>
            <a:endParaRPr lang="en-US" sz="1800" dirty="0"/>
          </a:p>
        </p:txBody>
      </p:sp>
      <p:sp>
        <p:nvSpPr>
          <p:cNvPr id="19" name="9:50 text"/>
          <p:cNvSpPr txBox="1"/>
          <p:nvPr/>
        </p:nvSpPr>
        <p:spPr>
          <a:xfrm>
            <a:off x="2514600" y="5340096"/>
            <a:ext cx="4206240" cy="713232"/>
          </a:xfrm>
          <a:prstGeom prst="rect">
            <a:avLst/>
          </a:prstGeom>
          <a:noFill/>
          <a:ln/>
        </p:spPr>
        <p:txBody>
          <a:bodyPr wrap="square" lIns="0" tIns="0" rIns="0" bIns="0" rtlCol="0" anchor="t"/>
          <a:lstStyle/>
          <a:p>
            <a:pPr indent="0" marL="0">
              <a:buNone/>
            </a:pPr>
            <a:r>
              <a:rPr lang="en-US" sz="1400" dirty="0">
                <a:solidFill>
                  <a:srgbClr val="0B192C"/>
                </a:solidFill>
              </a:rPr>
              <a:t>Safe taps, help requests and badge-outs close the count. No radio roll call.</a:t>
            </a:r>
            <a:endParaRPr lang="en-US" sz="1400" dirty="0"/>
          </a:p>
        </p:txBody>
      </p:sp>
      <p:sp>
        <p:nvSpPr>
          <p:cNvPr id="20" name="result card"/>
          <p:cNvSpPr/>
          <p:nvPr/>
        </p:nvSpPr>
        <p:spPr>
          <a:xfrm>
            <a:off x="7086600" y="1463040"/>
            <a:ext cx="4526280" cy="1920240"/>
          </a:xfrm>
          <a:prstGeom prst="roundRect">
            <a:avLst>
              <a:gd name="adj" fmla="val 5714"/>
            </a:avLst>
          </a:prstGeom>
          <a:solidFill>
            <a:srgbClr val="E8F5EF"/>
          </a:solidFill>
          <a:ln w="12700">
            <a:solidFill>
              <a:srgbClr val="E8F5EF"/>
            </a:solidFill>
            <a:prstDash val="solid"/>
          </a:ln>
          <a:effectLst>
            <a:outerShdw sx="100000" sy="100000" kx="0" ky="0" algn="bl" rotWithShape="0" blurRad="101600" dist="25400" dir="5400000">
              <a:srgbClr val="0B192C">
                <a:alpha val="14000"/>
              </a:srgbClr>
            </a:outerShdw>
          </a:effectLst>
        </p:spPr>
      </p:sp>
      <p:sp>
        <p:nvSpPr>
          <p:cNvPr id="21" name="big stat"/>
          <p:cNvSpPr txBox="1"/>
          <p:nvPr/>
        </p:nvSpPr>
        <p:spPr>
          <a:xfrm>
            <a:off x="7406640" y="1600200"/>
            <a:ext cx="3886200" cy="868680"/>
          </a:xfrm>
          <a:prstGeom prst="rect">
            <a:avLst/>
          </a:prstGeom>
          <a:noFill/>
          <a:ln/>
        </p:spPr>
        <p:txBody>
          <a:bodyPr wrap="square" lIns="0" tIns="0" rIns="0" bIns="0" rtlCol="0" anchor="ctr"/>
          <a:lstStyle/>
          <a:p>
            <a:pPr indent="0" marL="0">
              <a:buNone/>
            </a:pPr>
            <a:r>
              <a:rPr lang="en-US" sz="5400" b="1" dirty="0">
                <a:solidFill>
                  <a:srgbClr val="0F7B53"/>
                </a:solidFill>
                <a:latin typeface="Arial" pitchFamily="34" charset="0"/>
                <a:ea typeface="Arial" pitchFamily="34" charset="-122"/>
                <a:cs typeface="Arial" pitchFamily="34" charset="-120"/>
              </a:rPr>
              <a:t>8 minutes</a:t>
            </a:r>
            <a:endParaRPr lang="en-US" sz="5400" dirty="0"/>
          </a:p>
        </p:txBody>
      </p:sp>
      <p:sp>
        <p:nvSpPr>
          <p:cNvPr id="22" name="big stat label"/>
          <p:cNvSpPr txBox="1"/>
          <p:nvPr/>
        </p:nvSpPr>
        <p:spPr>
          <a:xfrm>
            <a:off x="7406640" y="2514600"/>
            <a:ext cx="3886200" cy="731520"/>
          </a:xfrm>
          <a:prstGeom prst="rect">
            <a:avLst/>
          </a:prstGeom>
          <a:noFill/>
          <a:ln/>
        </p:spPr>
        <p:txBody>
          <a:bodyPr wrap="square" lIns="0" tIns="0" rIns="0" bIns="0" rtlCol="0" anchor="t"/>
          <a:lstStyle/>
          <a:p>
            <a:pPr indent="0" marL="0">
              <a:buNone/>
            </a:pPr>
            <a:r>
              <a:rPr lang="en-US" sz="1500" dirty="0">
                <a:solidFill>
                  <a:srgbClr val="0B192C"/>
                </a:solidFill>
              </a:rPr>
              <a:t>from alarm to everyone accounted for, instead of 24. Sixteen minutes back.</a:t>
            </a:r>
            <a:endParaRPr lang="en-US" sz="1500" dirty="0"/>
          </a:p>
        </p:txBody>
      </p:sp>
      <p:sp>
        <p:nvSpPr>
          <p:cNvPr id="23" name="chip 0"/>
          <p:cNvSpPr/>
          <p:nvPr/>
        </p:nvSpPr>
        <p:spPr>
          <a:xfrm>
            <a:off x="7086600" y="3611880"/>
            <a:ext cx="868680" cy="457200"/>
          </a:xfrm>
          <a:prstGeom prst="roundRect">
            <a:avLst>
              <a:gd name="adj" fmla="val 50000"/>
            </a:avLst>
          </a:prstGeom>
          <a:solidFill>
            <a:srgbClr val="0F7B53"/>
          </a:solidFill>
          <a:ln w="12700">
            <a:solidFill>
              <a:srgbClr val="0F7B53"/>
            </a:solidFill>
            <a:prstDash val="solid"/>
          </a:ln>
        </p:spPr>
      </p:sp>
      <p:sp>
        <p:nvSpPr>
          <p:cNvPr id="24" name="chip num 0"/>
          <p:cNvSpPr txBox="1"/>
          <p:nvPr/>
        </p:nvSpPr>
        <p:spPr>
          <a:xfrm>
            <a:off x="7086600" y="3611880"/>
            <a:ext cx="868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191</a:t>
            </a:r>
            <a:endParaRPr lang="en-US" sz="1800" dirty="0"/>
          </a:p>
        </p:txBody>
      </p:sp>
      <p:sp>
        <p:nvSpPr>
          <p:cNvPr id="25" name="chip text 0"/>
          <p:cNvSpPr txBox="1"/>
          <p:nvPr/>
        </p:nvSpPr>
        <p:spPr>
          <a:xfrm>
            <a:off x="8138160" y="3611880"/>
            <a:ext cx="3474720" cy="457200"/>
          </a:xfrm>
          <a:prstGeom prst="rect">
            <a:avLst/>
          </a:prstGeom>
          <a:noFill/>
          <a:ln/>
        </p:spPr>
        <p:txBody>
          <a:bodyPr wrap="square" lIns="0" tIns="0" rIns="0" bIns="0" rtlCol="0" anchor="ctr"/>
          <a:lstStyle/>
          <a:p>
            <a:pPr indent="0" marL="0">
              <a:buNone/>
            </a:pPr>
            <a:r>
              <a:rPr lang="en-US" sz="1400" dirty="0">
                <a:solidFill>
                  <a:srgbClr val="0B192C"/>
                </a:solidFill>
              </a:rPr>
              <a:t>tapped "I am safe" by 9:50</a:t>
            </a:r>
            <a:endParaRPr lang="en-US" sz="1400" dirty="0"/>
          </a:p>
        </p:txBody>
      </p:sp>
      <p:sp>
        <p:nvSpPr>
          <p:cNvPr id="26" name="chip 1"/>
          <p:cNvSpPr/>
          <p:nvPr/>
        </p:nvSpPr>
        <p:spPr>
          <a:xfrm>
            <a:off x="7086600" y="4215384"/>
            <a:ext cx="868680" cy="457200"/>
          </a:xfrm>
          <a:prstGeom prst="roundRect">
            <a:avLst>
              <a:gd name="adj" fmla="val 50000"/>
            </a:avLst>
          </a:prstGeom>
          <a:solidFill>
            <a:srgbClr val="D97706"/>
          </a:solidFill>
          <a:ln w="12700">
            <a:solidFill>
              <a:srgbClr val="D97706"/>
            </a:solidFill>
            <a:prstDash val="solid"/>
          </a:ln>
        </p:spPr>
      </p:sp>
      <p:sp>
        <p:nvSpPr>
          <p:cNvPr id="27" name="chip num 1"/>
          <p:cNvSpPr txBox="1"/>
          <p:nvPr/>
        </p:nvSpPr>
        <p:spPr>
          <a:xfrm>
            <a:off x="7086600" y="4215384"/>
            <a:ext cx="868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8" name="chip text 1"/>
          <p:cNvSpPr txBox="1"/>
          <p:nvPr/>
        </p:nvSpPr>
        <p:spPr>
          <a:xfrm>
            <a:off x="8138160" y="4215384"/>
            <a:ext cx="3474720" cy="457200"/>
          </a:xfrm>
          <a:prstGeom prst="rect">
            <a:avLst/>
          </a:prstGeom>
          <a:noFill/>
          <a:ln/>
        </p:spPr>
        <p:txBody>
          <a:bodyPr wrap="square" lIns="0" tIns="0" rIns="0" bIns="0" rtlCol="0" anchor="ctr"/>
          <a:lstStyle/>
          <a:p>
            <a:pPr indent="0" marL="0">
              <a:buNone/>
            </a:pPr>
            <a:r>
              <a:rPr lang="en-US" sz="1400" dirty="0">
                <a:solidFill>
                  <a:srgbClr val="0B192C"/>
                </a:solidFill>
              </a:rPr>
              <a:t>tapped "I need help": a responder is routed by name</a:t>
            </a:r>
            <a:endParaRPr lang="en-US" sz="1400" dirty="0"/>
          </a:p>
        </p:txBody>
      </p:sp>
      <p:sp>
        <p:nvSpPr>
          <p:cNvPr id="29" name="chip 2"/>
          <p:cNvSpPr/>
          <p:nvPr/>
        </p:nvSpPr>
        <p:spPr>
          <a:xfrm>
            <a:off x="7086600" y="4818888"/>
            <a:ext cx="868680" cy="457200"/>
          </a:xfrm>
          <a:prstGeom prst="roundRect">
            <a:avLst>
              <a:gd name="adj" fmla="val 50000"/>
            </a:avLst>
          </a:prstGeom>
          <a:solidFill>
            <a:srgbClr val="005DAA"/>
          </a:solidFill>
          <a:ln w="12700">
            <a:solidFill>
              <a:srgbClr val="005DAA"/>
            </a:solidFill>
            <a:prstDash val="solid"/>
          </a:ln>
        </p:spPr>
      </p:sp>
      <p:sp>
        <p:nvSpPr>
          <p:cNvPr id="30" name="chip num 2"/>
          <p:cNvSpPr txBox="1"/>
          <p:nvPr/>
        </p:nvSpPr>
        <p:spPr>
          <a:xfrm>
            <a:off x="7086600" y="4818888"/>
            <a:ext cx="868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31" name="chip text 2"/>
          <p:cNvSpPr txBox="1"/>
          <p:nvPr/>
        </p:nvSpPr>
        <p:spPr>
          <a:xfrm>
            <a:off x="8138160" y="4818888"/>
            <a:ext cx="3474720" cy="457200"/>
          </a:xfrm>
          <a:prstGeom prst="rect">
            <a:avLst/>
          </a:prstGeom>
          <a:noFill/>
          <a:ln/>
        </p:spPr>
        <p:txBody>
          <a:bodyPr wrap="square" lIns="0" tIns="0" rIns="0" bIns="0" rtlCol="0" anchor="ctr"/>
          <a:lstStyle/>
          <a:p>
            <a:pPr indent="0" marL="0">
              <a:buNone/>
            </a:pPr>
            <a:r>
              <a:rPr lang="en-US" sz="1400" dirty="0">
                <a:solidFill>
                  <a:srgbClr val="0B192C"/>
                </a:solidFill>
              </a:rPr>
              <a:t>resolve in the next minutes</a:t>
            </a:r>
            <a:endParaRPr lang="en-US" sz="1400" dirty="0"/>
          </a:p>
        </p:txBody>
      </p:sp>
      <p:sp>
        <p:nvSpPr>
          <p:cNvPr id="32" name="chip 3"/>
          <p:cNvSpPr/>
          <p:nvPr/>
        </p:nvSpPr>
        <p:spPr>
          <a:xfrm>
            <a:off x="7086600" y="5422392"/>
            <a:ext cx="868680" cy="457200"/>
          </a:xfrm>
          <a:prstGeom prst="roundRect">
            <a:avLst>
              <a:gd name="adj" fmla="val 50000"/>
            </a:avLst>
          </a:prstGeom>
          <a:solidFill>
            <a:srgbClr val="64748B"/>
          </a:solidFill>
          <a:ln w="12700">
            <a:solidFill>
              <a:srgbClr val="64748B"/>
            </a:solidFill>
            <a:prstDash val="solid"/>
          </a:ln>
        </p:spPr>
      </p:sp>
      <p:sp>
        <p:nvSpPr>
          <p:cNvPr id="33" name="chip num 3"/>
          <p:cNvSpPr txBox="1"/>
          <p:nvPr/>
        </p:nvSpPr>
        <p:spPr>
          <a:xfrm>
            <a:off x="7086600" y="5422392"/>
            <a:ext cx="868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34" name="chip text 3"/>
          <p:cNvSpPr txBox="1"/>
          <p:nvPr/>
        </p:nvSpPr>
        <p:spPr>
          <a:xfrm>
            <a:off x="8138160" y="5422392"/>
            <a:ext cx="3474720" cy="457200"/>
          </a:xfrm>
          <a:prstGeom prst="rect">
            <a:avLst/>
          </a:prstGeom>
          <a:noFill/>
          <a:ln/>
        </p:spPr>
        <p:txBody>
          <a:bodyPr wrap="square" lIns="0" tIns="0" rIns="0" bIns="0" rtlCol="0" anchor="ctr"/>
          <a:lstStyle/>
          <a:p>
            <a:pPr indent="0" marL="0">
              <a:buNone/>
            </a:pPr>
            <a:r>
              <a:rPr lang="en-US" sz="1400" dirty="0">
                <a:solidFill>
                  <a:srgbClr val="0B192C"/>
                </a:solidFill>
              </a:rPr>
              <a:t>never badged in: shown as not in the building, not as missing</a:t>
            </a:r>
            <a:endParaRPr lang="en-US" sz="1400" dirty="0"/>
          </a:p>
        </p:txBody>
      </p:sp>
      <p:sp>
        <p:nvSpPr>
          <p:cNvPr id="35" name="caveat"/>
          <p:cNvSpPr txBox="1"/>
          <p:nvPr/>
        </p:nvSpPr>
        <p:spPr>
          <a:xfrm>
            <a:off x="548640" y="5989320"/>
            <a:ext cx="9144000" cy="274320"/>
          </a:xfrm>
          <a:prstGeom prst="rect">
            <a:avLst/>
          </a:prstGeom>
          <a:noFill/>
          <a:ln/>
        </p:spPr>
        <p:txBody>
          <a:bodyPr wrap="square" lIns="0" tIns="0" rIns="0" bIns="0" rtlCol="0" anchor="ctr"/>
          <a:lstStyle/>
          <a:p>
            <a:pPr indent="0" marL="0">
              <a:buNone/>
            </a:pPr>
            <a:r>
              <a:rPr lang="en-US" sz="1100" i="1" dirty="0">
                <a:solidFill>
                  <a:srgbClr val="64748B"/>
                </a:solidFill>
              </a:rPr>
              <a:t>Illustrative breakdown of 195 people on a synthetic floor.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Every phone carries the floor map</a:t>
            </a:r>
            <a:endParaRPr lang="en-US" sz="3200" dirty="0"/>
          </a:p>
        </p:txBody>
      </p:sp>
      <p:sp>
        <p:nvSpPr>
          <p:cNvPr id="3" name="map frame"/>
          <p:cNvSpPr/>
          <p:nvPr/>
        </p:nvSpPr>
        <p:spPr>
          <a:xfrm>
            <a:off x="512064" y="1380744"/>
            <a:ext cx="6793992" cy="3979756"/>
          </a:xfrm>
          <a:prstGeom prst="rect">
            <a:avLst/>
          </a:prstGeom>
          <a:solidFill>
            <a:srgbClr val="CBD5E1"/>
          </a:solidFill>
          <a:ln w="12700">
            <a:solidFill>
              <a:srgbClr val="CBD5E1"/>
            </a:solidFill>
            <a:prstDash val="solid"/>
          </a:ln>
          <a:effectLst>
            <a:outerShdw sx="100000" sy="100000" kx="0" ky="0" algn="bl" rotWithShape="0" blurRad="101600" dist="25400" dir="5400000">
              <a:srgbClr val="0B192C">
                <a:alpha val="14000"/>
              </a:srgbClr>
            </a:outerShdw>
          </a:effectLst>
        </p:spPr>
      </p:sp>
      <p:pic>
        <p:nvPicPr>
          <p:cNvPr id="4" name="floor 07 map" descr="/home/claude/deck/img/14-floor-map.jpg">    </p:cNvPr>
          <p:cNvPicPr>
            <a:picLocks noChangeAspect="1"/>
          </p:cNvPicPr>
          <p:nvPr/>
        </p:nvPicPr>
        <p:blipFill>
          <a:blip r:embed="rId1"/>
          <a:stretch>
            <a:fillRect/>
          </a:stretch>
        </p:blipFill>
        <p:spPr>
          <a:xfrm>
            <a:off x="548640" y="1417320"/>
            <a:ext cx="6720840" cy="3906604"/>
          </a:xfrm>
          <a:prstGeom prst="rect">
            <a:avLst/>
          </a:prstGeom>
        </p:spPr>
      </p:pic>
      <p:sp>
        <p:nvSpPr>
          <p:cNvPr id="5" name="map caption"/>
          <p:cNvSpPr txBox="1"/>
          <p:nvPr/>
        </p:nvSpPr>
        <p:spPr>
          <a:xfrm>
            <a:off x="548640" y="5506804"/>
            <a:ext cx="6720840" cy="685800"/>
          </a:xfrm>
          <a:prstGeom prst="rect">
            <a:avLst/>
          </a:prstGeom>
          <a:noFill/>
          <a:ln/>
        </p:spPr>
        <p:txBody>
          <a:bodyPr wrap="square" lIns="0" tIns="0" rIns="0" bIns="0" rtlCol="0" anchor="t"/>
          <a:lstStyle/>
          <a:p>
            <a:pPr indent="0" marL="0">
              <a:buNone/>
            </a:pPr>
            <a:r>
              <a:rPr lang="en-US" sz="1200" dirty="0">
                <a:solidFill>
                  <a:srgbClr val="64748B"/>
                </a:solidFill>
              </a:rPr>
              <a:t>What every phone shows during a drill: the person's sector, the assigned stairwell, and a route along the corridors. Elevators are marked as recalled. No names appear on this map.</a:t>
            </a:r>
            <a:endParaRPr lang="en-US" sz="1200" dirty="0"/>
          </a:p>
        </p:txBody>
      </p:sp>
      <p:sp>
        <p:nvSpPr>
          <p:cNvPr id="6" name="map point 1 circle"/>
          <p:cNvSpPr/>
          <p:nvPr/>
        </p:nvSpPr>
        <p:spPr>
          <a:xfrm>
            <a:off x="7635240" y="1417320"/>
            <a:ext cx="640080" cy="640080"/>
          </a:xfrm>
          <a:prstGeom prst="ellipse">
            <a:avLst/>
          </a:prstGeom>
          <a:solidFill>
            <a:srgbClr val="005DAA"/>
          </a:solidFill>
          <a:ln w="12700">
            <a:solidFill>
              <a:srgbClr val="005DAA"/>
            </a:solidFill>
            <a:prstDash val="solid"/>
          </a:ln>
        </p:spPr>
      </p:sp>
      <p:pic>
        <p:nvPicPr>
          <p:cNvPr id="7" name="map point 1 icon" descr="preencoded.png">    </p:cNvPr>
          <p:cNvPicPr>
            <a:picLocks noChangeAspect="1"/>
          </p:cNvPicPr>
          <p:nvPr/>
        </p:nvPicPr>
        <p:blipFill>
          <a:blip r:embed="rId2"/>
          <a:stretch>
            <a:fillRect/>
          </a:stretch>
        </p:blipFill>
        <p:spPr>
          <a:xfrm>
            <a:off x="7795260" y="1577340"/>
            <a:ext cx="320040" cy="320040"/>
          </a:xfrm>
          <a:prstGeom prst="rect">
            <a:avLst/>
          </a:prstGeom>
        </p:spPr>
      </p:pic>
      <p:sp>
        <p:nvSpPr>
          <p:cNvPr id="8" name="map point head 1"/>
          <p:cNvSpPr txBox="1"/>
          <p:nvPr/>
        </p:nvSpPr>
        <p:spPr>
          <a:xfrm>
            <a:off x="8458200" y="1389888"/>
            <a:ext cx="3200400" cy="411480"/>
          </a:xfrm>
          <a:prstGeom prst="rect">
            <a:avLst/>
          </a:prstGeom>
          <a:noFill/>
          <a:ln/>
        </p:spPr>
        <p:txBody>
          <a:bodyPr wrap="square" lIns="0" tIns="0" rIns="0" bIns="0" rtlCol="0" anchor="ctr"/>
          <a:lstStyle/>
          <a:p>
            <a:pPr indent="0" marL="0">
              <a:buNone/>
            </a:pPr>
            <a:r>
              <a:rPr lang="en-US" sz="1600" b="1" dirty="0">
                <a:solidFill>
                  <a:srgbClr val="0B192C"/>
                </a:solidFill>
              </a:rPr>
              <a:t>A route, not just a stairwell name</a:t>
            </a:r>
            <a:endParaRPr lang="en-US" sz="1600" dirty="0"/>
          </a:p>
        </p:txBody>
      </p:sp>
      <p:sp>
        <p:nvSpPr>
          <p:cNvPr id="9" name="map point text 1"/>
          <p:cNvSpPr txBox="1"/>
          <p:nvPr/>
        </p:nvSpPr>
        <p:spPr>
          <a:xfrm>
            <a:off x="8458200" y="1801368"/>
            <a:ext cx="3200400" cy="868680"/>
          </a:xfrm>
          <a:prstGeom prst="rect">
            <a:avLst/>
          </a:prstGeom>
          <a:noFill/>
          <a:ln/>
        </p:spPr>
        <p:txBody>
          <a:bodyPr wrap="square" lIns="0" tIns="0" rIns="0" bIns="0" rtlCol="0" anchor="t"/>
          <a:lstStyle/>
          <a:p>
            <a:pPr indent="0" marL="0">
              <a:buNone/>
            </a:pPr>
            <a:r>
              <a:rPr lang="en-US" sz="1300" dirty="0">
                <a:solidFill>
                  <a:srgbClr val="0B192C"/>
                </a:solidFill>
              </a:rPr>
              <a:t>Each phone draws the way out from that person's sector to the assigned exit.</a:t>
            </a:r>
            <a:endParaRPr lang="en-US" sz="1300" dirty="0"/>
          </a:p>
        </p:txBody>
      </p:sp>
      <p:sp>
        <p:nvSpPr>
          <p:cNvPr id="10" name="map point 2 circle"/>
          <p:cNvSpPr/>
          <p:nvPr/>
        </p:nvSpPr>
        <p:spPr>
          <a:xfrm>
            <a:off x="7635240" y="2788920"/>
            <a:ext cx="640080" cy="640080"/>
          </a:xfrm>
          <a:prstGeom prst="ellipse">
            <a:avLst/>
          </a:prstGeom>
          <a:solidFill>
            <a:srgbClr val="B91C1C"/>
          </a:solidFill>
          <a:ln w="12700">
            <a:solidFill>
              <a:srgbClr val="B91C1C"/>
            </a:solidFill>
            <a:prstDash val="solid"/>
          </a:ln>
        </p:spPr>
      </p:sp>
      <p:pic>
        <p:nvPicPr>
          <p:cNvPr id="11" name="map point 2 icon" descr="preencoded.png">    </p:cNvPr>
          <p:cNvPicPr>
            <a:picLocks noChangeAspect="1"/>
          </p:cNvPicPr>
          <p:nvPr/>
        </p:nvPicPr>
        <p:blipFill>
          <a:blip r:embed="rId3"/>
          <a:stretch>
            <a:fillRect/>
          </a:stretch>
        </p:blipFill>
        <p:spPr>
          <a:xfrm>
            <a:off x="7795260" y="2948940"/>
            <a:ext cx="320040" cy="320040"/>
          </a:xfrm>
          <a:prstGeom prst="rect">
            <a:avLst/>
          </a:prstGeom>
        </p:spPr>
      </p:pic>
      <p:sp>
        <p:nvSpPr>
          <p:cNvPr id="12" name="map point head 2"/>
          <p:cNvSpPr txBox="1"/>
          <p:nvPr/>
        </p:nvSpPr>
        <p:spPr>
          <a:xfrm>
            <a:off x="8458200" y="2761488"/>
            <a:ext cx="3200400" cy="411480"/>
          </a:xfrm>
          <a:prstGeom prst="rect">
            <a:avLst/>
          </a:prstGeom>
          <a:noFill/>
          <a:ln/>
        </p:spPr>
        <p:txBody>
          <a:bodyPr wrap="square" lIns="0" tIns="0" rIns="0" bIns="0" rtlCol="0" anchor="ctr"/>
          <a:lstStyle/>
          <a:p>
            <a:pPr indent="0" marL="0">
              <a:buNone/>
            </a:pPr>
            <a:r>
              <a:rPr lang="en-US" sz="1600" b="1" dirty="0">
                <a:solidFill>
                  <a:srgbClr val="0B192C"/>
                </a:solidFill>
              </a:rPr>
              <a:t>Help has a location</a:t>
            </a:r>
            <a:endParaRPr lang="en-US" sz="1600" dirty="0"/>
          </a:p>
        </p:txBody>
      </p:sp>
      <p:sp>
        <p:nvSpPr>
          <p:cNvPr id="13" name="map point text 2"/>
          <p:cNvSpPr txBox="1"/>
          <p:nvPr/>
        </p:nvSpPr>
        <p:spPr>
          <a:xfrm>
            <a:off x="8458200" y="3172968"/>
            <a:ext cx="3200400" cy="868680"/>
          </a:xfrm>
          <a:prstGeom prst="rect">
            <a:avLst/>
          </a:prstGeom>
          <a:noFill/>
          <a:ln/>
        </p:spPr>
        <p:txBody>
          <a:bodyPr wrap="square" lIns="0" tIns="0" rIns="0" bIns="0" rtlCol="0" anchor="t"/>
          <a:lstStyle/>
          <a:p>
            <a:pPr indent="0" marL="0">
              <a:buNone/>
            </a:pPr>
            <a:r>
              <a:rPr lang="en-US" sz="1300" dirty="0">
                <a:solidFill>
                  <a:srgbClr val="0B192C"/>
                </a:solidFill>
              </a:rPr>
              <a:t>When someone taps "I need help," the commander sees them pinned on the map with the nearest stairwell.</a:t>
            </a:r>
            <a:endParaRPr lang="en-US" sz="1300" dirty="0"/>
          </a:p>
        </p:txBody>
      </p:sp>
      <p:sp>
        <p:nvSpPr>
          <p:cNvPr id="14" name="map point 3 circle"/>
          <p:cNvSpPr/>
          <p:nvPr/>
        </p:nvSpPr>
        <p:spPr>
          <a:xfrm>
            <a:off x="7635240" y="4160520"/>
            <a:ext cx="640080" cy="640080"/>
          </a:xfrm>
          <a:prstGeom prst="ellipse">
            <a:avLst/>
          </a:prstGeom>
          <a:solidFill>
            <a:srgbClr val="005DAA"/>
          </a:solidFill>
          <a:ln w="12700">
            <a:solidFill>
              <a:srgbClr val="005DAA"/>
            </a:solidFill>
            <a:prstDash val="solid"/>
          </a:ln>
        </p:spPr>
      </p:sp>
      <p:pic>
        <p:nvPicPr>
          <p:cNvPr id="15" name="map point 3 icon" descr="preencoded.png">    </p:cNvPr>
          <p:cNvPicPr>
            <a:picLocks noChangeAspect="1"/>
          </p:cNvPicPr>
          <p:nvPr/>
        </p:nvPicPr>
        <p:blipFill>
          <a:blip r:embed="rId4"/>
          <a:stretch>
            <a:fillRect/>
          </a:stretch>
        </p:blipFill>
        <p:spPr>
          <a:xfrm>
            <a:off x="7795260" y="4320540"/>
            <a:ext cx="320040" cy="320040"/>
          </a:xfrm>
          <a:prstGeom prst="rect">
            <a:avLst/>
          </a:prstGeom>
        </p:spPr>
      </p:pic>
      <p:sp>
        <p:nvSpPr>
          <p:cNvPr id="16" name="map point head 3"/>
          <p:cNvSpPr txBox="1"/>
          <p:nvPr/>
        </p:nvSpPr>
        <p:spPr>
          <a:xfrm>
            <a:off x="8458200" y="4133088"/>
            <a:ext cx="3200400" cy="411480"/>
          </a:xfrm>
          <a:prstGeom prst="rect">
            <a:avLst/>
          </a:prstGeom>
          <a:noFill/>
          <a:ln/>
        </p:spPr>
        <p:txBody>
          <a:bodyPr wrap="square" lIns="0" tIns="0" rIns="0" bIns="0" rtlCol="0" anchor="ctr"/>
          <a:lstStyle/>
          <a:p>
            <a:pPr indent="0" marL="0">
              <a:buNone/>
            </a:pPr>
            <a:r>
              <a:rPr lang="en-US" sz="1600" b="1" dirty="0">
                <a:solidFill>
                  <a:srgbClr val="0B192C"/>
                </a:solidFill>
              </a:rPr>
              <a:t>A rescue checklist</a:t>
            </a:r>
            <a:endParaRPr lang="en-US" sz="1600" dirty="0"/>
          </a:p>
        </p:txBody>
      </p:sp>
      <p:sp>
        <p:nvSpPr>
          <p:cNvPr id="17" name="map point text 3"/>
          <p:cNvSpPr txBox="1"/>
          <p:nvPr/>
        </p:nvSpPr>
        <p:spPr>
          <a:xfrm>
            <a:off x="8458200" y="4544568"/>
            <a:ext cx="3200400" cy="868680"/>
          </a:xfrm>
          <a:prstGeom prst="rect">
            <a:avLst/>
          </a:prstGeom>
          <a:noFill/>
          <a:ln/>
        </p:spPr>
        <p:txBody>
          <a:bodyPr wrap="square" lIns="0" tIns="0" rIns="0" bIns="0" rtlCol="0" anchor="t"/>
          <a:lstStyle/>
          <a:p>
            <a:pPr indent="0" marL="0">
              <a:buNone/>
            </a:pPr>
            <a:r>
              <a:rPr lang="en-US" sz="1300" dirty="0">
                <a:solidFill>
                  <a:srgbClr val="0B192C"/>
                </a:solidFill>
              </a:rPr>
              <a:t>Four steps from first contact to safe outside. Each step is written to the audit log.</a:t>
            </a:r>
            <a:endParaRPr lang="en-US" sz="1300" dirty="0"/>
          </a:p>
        </p:txBody>
      </p:sp>
      <p:sp>
        <p:nvSpPr>
          <p:cNvPr id="18" name="caveat"/>
          <p:cNvSpPr txBox="1"/>
          <p:nvPr/>
        </p:nvSpPr>
        <p:spPr>
          <a:xfrm>
            <a:off x="548640" y="5989320"/>
            <a:ext cx="10972800" cy="274320"/>
          </a:xfrm>
          <a:prstGeom prst="rect">
            <a:avLst/>
          </a:prstGeom>
          <a:noFill/>
          <a:ln/>
        </p:spPr>
        <p:txBody>
          <a:bodyPr wrap="square" lIns="0" tIns="0" rIns="0" bIns="0" rtlCol="0" anchor="ctr"/>
          <a:lstStyle/>
          <a:p>
            <a:pPr indent="0" marL="0">
              <a:buNone/>
            </a:pPr>
            <a:r>
              <a:rPr lang="en-US" sz="1100" i="1" dirty="0">
                <a:solidFill>
                  <a:srgbClr val="64748B"/>
                </a:solidFill>
              </a:rPr>
              <a:t>Prototype drawing of Floor 07. The layout needs to be checked against the building's own floor plan.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that morning changes</a:t>
            </a:r>
            <a:endParaRPr lang="en-US" sz="3200" dirty="0"/>
          </a:p>
        </p:txBody>
      </p:sp>
      <p:sp>
        <p:nvSpPr>
          <p:cNvPr id="3" name="column Safety"/>
          <p:cNvSpPr/>
          <p:nvPr/>
        </p:nvSpPr>
        <p:spPr>
          <a:xfrm>
            <a:off x="548640" y="1463040"/>
            <a:ext cx="5394960" cy="3794760"/>
          </a:xfrm>
          <a:prstGeom prst="roundRect">
            <a:avLst>
              <a:gd name="adj" fmla="val 2892"/>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4" name="Safety circle"/>
          <p:cNvSpPr/>
          <p:nvPr/>
        </p:nvSpPr>
        <p:spPr>
          <a:xfrm>
            <a:off x="914400" y="1783080"/>
            <a:ext cx="731520" cy="731520"/>
          </a:xfrm>
          <a:prstGeom prst="ellipse">
            <a:avLst/>
          </a:prstGeom>
          <a:solidFill>
            <a:srgbClr val="005DAA"/>
          </a:solidFill>
          <a:ln w="12700">
            <a:solidFill>
              <a:srgbClr val="005DAA"/>
            </a:solidFill>
            <a:prstDash val="solid"/>
          </a:ln>
        </p:spPr>
      </p:sp>
      <p:pic>
        <p:nvPicPr>
          <p:cNvPr id="5" name="Safety icon" descr="preencoded.png">    </p:cNvPr>
          <p:cNvPicPr>
            <a:picLocks noChangeAspect="1"/>
          </p:cNvPicPr>
          <p:nvPr/>
        </p:nvPicPr>
        <p:blipFill>
          <a:blip r:embed="rId1"/>
          <a:stretch>
            <a:fillRect/>
          </a:stretch>
        </p:blipFill>
        <p:spPr>
          <a:xfrm>
            <a:off x="1097280" y="1965960"/>
            <a:ext cx="365760" cy="365760"/>
          </a:xfrm>
          <a:prstGeom prst="rect">
            <a:avLst/>
          </a:prstGeom>
        </p:spPr>
      </p:pic>
      <p:sp>
        <p:nvSpPr>
          <p:cNvPr id="6" name="Safety heading"/>
          <p:cNvSpPr txBox="1"/>
          <p:nvPr/>
        </p:nvSpPr>
        <p:spPr>
          <a:xfrm>
            <a:off x="1828800" y="1783080"/>
            <a:ext cx="3749040" cy="731520"/>
          </a:xfrm>
          <a:prstGeom prst="rect">
            <a:avLst/>
          </a:prstGeom>
          <a:noFill/>
          <a:ln/>
        </p:spPr>
        <p:txBody>
          <a:bodyPr wrap="square" lIns="0" tIns="0" rIns="0" bIns="0" rtlCol="0" anchor="ctr"/>
          <a:lstStyle/>
          <a:p>
            <a:pPr indent="0" marL="0">
              <a:buNone/>
            </a:pPr>
            <a:r>
              <a:rPr lang="en-US" sz="2400" b="1" dirty="0">
                <a:solidFill>
                  <a:srgbClr val="0B192C"/>
                </a:solidFill>
                <a:latin typeface="Arial" pitchFamily="34" charset="0"/>
                <a:ea typeface="Arial" pitchFamily="34" charset="-122"/>
                <a:cs typeface="Arial" pitchFamily="34" charset="-120"/>
              </a:rPr>
              <a:t>Safety</a:t>
            </a:r>
            <a:endParaRPr lang="en-US" sz="2400" dirty="0"/>
          </a:p>
        </p:txBody>
      </p:sp>
      <p:sp>
        <p:nvSpPr>
          <p:cNvPr id="7" name="Safety list"/>
          <p:cNvSpPr txBox="1"/>
          <p:nvPr/>
        </p:nvSpPr>
        <p:spPr>
          <a:xfrm>
            <a:off x="960120" y="2743200"/>
            <a:ext cx="4617720" cy="23774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0B192C"/>
                </a:solidFill>
              </a:rPr>
              <a:t>Time to all safe is measured, not estimated</a:t>
            </a:r>
            <a:endParaRPr lang="en-US" sz="1700" dirty="0"/>
          </a:p>
          <a:p>
            <a:pPr marL="228600" indent="-228600">
              <a:spcAft>
                <a:spcPts val="1000"/>
              </a:spcAft>
              <a:buSzPct val="100000"/>
              <a:buChar char="•"/>
            </a:pPr>
            <a:r>
              <a:rPr lang="en-US" sz="1700" dirty="0">
                <a:solidFill>
                  <a:srgbClr val="0B192C"/>
                </a:solidFill>
              </a:rPr>
              <a:t>Unaccounted people surface with a last known quadrant</a:t>
            </a:r>
            <a:endParaRPr lang="en-US" sz="1700" dirty="0"/>
          </a:p>
          <a:p>
            <a:pPr marL="228600" indent="-228600">
              <a:spcAft>
                <a:spcPts val="1000"/>
              </a:spcAft>
              <a:buSzPct val="100000"/>
              <a:buChar char="•"/>
            </a:pPr>
            <a:r>
              <a:rPr lang="en-US" sz="1700" dirty="0">
                <a:solidFill>
                  <a:srgbClr val="0B192C"/>
                </a:solidFill>
              </a:rPr>
              <a:t>Help requests reach a responder by name</a:t>
            </a:r>
            <a:endParaRPr lang="en-US" sz="1700" dirty="0"/>
          </a:p>
          <a:p>
            <a:pPr marL="228600" indent="-228600">
              <a:spcAft>
                <a:spcPts val="1000"/>
              </a:spcAft>
              <a:buSzPct val="100000"/>
              <a:buChar char="•"/>
            </a:pPr>
            <a:r>
              <a:rPr lang="en-US" sz="1700" dirty="0">
                <a:solidFill>
                  <a:srgbClr val="0B192C"/>
                </a:solidFill>
              </a:rPr>
              <a:t>Silence is never read as safety</a:t>
            </a:r>
            <a:endParaRPr lang="en-US" sz="1700" dirty="0"/>
          </a:p>
        </p:txBody>
      </p:sp>
      <p:sp>
        <p:nvSpPr>
          <p:cNvPr id="8" name="column Operations"/>
          <p:cNvSpPr/>
          <p:nvPr/>
        </p:nvSpPr>
        <p:spPr>
          <a:xfrm>
            <a:off x="6217920" y="1463040"/>
            <a:ext cx="5394960" cy="3794760"/>
          </a:xfrm>
          <a:prstGeom prst="roundRect">
            <a:avLst>
              <a:gd name="adj" fmla="val 2892"/>
            </a:avLst>
          </a:prstGeom>
          <a:solidFill>
            <a:srgbClr val="E8F5EF"/>
          </a:solidFill>
          <a:ln w="12700">
            <a:solidFill>
              <a:srgbClr val="E8F5EF"/>
            </a:solidFill>
            <a:prstDash val="solid"/>
          </a:ln>
          <a:effectLst>
            <a:outerShdw sx="100000" sy="100000" kx="0" ky="0" algn="bl" rotWithShape="0" blurRad="101600" dist="25400" dir="5400000">
              <a:srgbClr val="0B192C">
                <a:alpha val="14000"/>
              </a:srgbClr>
            </a:outerShdw>
          </a:effectLst>
        </p:spPr>
      </p:sp>
      <p:sp>
        <p:nvSpPr>
          <p:cNvPr id="9" name="Operations circle"/>
          <p:cNvSpPr/>
          <p:nvPr/>
        </p:nvSpPr>
        <p:spPr>
          <a:xfrm>
            <a:off x="6583680" y="1783080"/>
            <a:ext cx="731520" cy="731520"/>
          </a:xfrm>
          <a:prstGeom prst="ellipse">
            <a:avLst/>
          </a:prstGeom>
          <a:solidFill>
            <a:srgbClr val="0F7B53"/>
          </a:solidFill>
          <a:ln w="12700">
            <a:solidFill>
              <a:srgbClr val="0F7B53"/>
            </a:solidFill>
            <a:prstDash val="solid"/>
          </a:ln>
        </p:spPr>
      </p:sp>
      <p:pic>
        <p:nvPicPr>
          <p:cNvPr id="10" name="Operations icon" descr="preencoded.png">    </p:cNvPr>
          <p:cNvPicPr>
            <a:picLocks noChangeAspect="1"/>
          </p:cNvPicPr>
          <p:nvPr/>
        </p:nvPicPr>
        <p:blipFill>
          <a:blip r:embed="rId2"/>
          <a:stretch>
            <a:fillRect/>
          </a:stretch>
        </p:blipFill>
        <p:spPr>
          <a:xfrm>
            <a:off x="6766560" y="1965960"/>
            <a:ext cx="365760" cy="365760"/>
          </a:xfrm>
          <a:prstGeom prst="rect">
            <a:avLst/>
          </a:prstGeom>
        </p:spPr>
      </p:pic>
      <p:sp>
        <p:nvSpPr>
          <p:cNvPr id="11" name="Operations heading"/>
          <p:cNvSpPr txBox="1"/>
          <p:nvPr/>
        </p:nvSpPr>
        <p:spPr>
          <a:xfrm>
            <a:off x="7498080" y="1783080"/>
            <a:ext cx="3749040" cy="731520"/>
          </a:xfrm>
          <a:prstGeom prst="rect">
            <a:avLst/>
          </a:prstGeom>
          <a:noFill/>
          <a:ln/>
        </p:spPr>
        <p:txBody>
          <a:bodyPr wrap="square" lIns="0" tIns="0" rIns="0" bIns="0" rtlCol="0" anchor="ctr"/>
          <a:lstStyle/>
          <a:p>
            <a:pPr indent="0" marL="0">
              <a:buNone/>
            </a:pPr>
            <a:r>
              <a:rPr lang="en-US" sz="2400" b="1" dirty="0">
                <a:solidFill>
                  <a:srgbClr val="0B192C"/>
                </a:solidFill>
                <a:latin typeface="Arial" pitchFamily="34" charset="0"/>
                <a:ea typeface="Arial" pitchFamily="34" charset="-122"/>
                <a:cs typeface="Arial" pitchFamily="34" charset="-120"/>
              </a:rPr>
              <a:t>Operations</a:t>
            </a:r>
            <a:endParaRPr lang="en-US" sz="2400" dirty="0"/>
          </a:p>
        </p:txBody>
      </p:sp>
      <p:sp>
        <p:nvSpPr>
          <p:cNvPr id="12" name="Operations list"/>
          <p:cNvSpPr txBox="1"/>
          <p:nvPr/>
        </p:nvSpPr>
        <p:spPr>
          <a:xfrm>
            <a:off x="6629400" y="2743200"/>
            <a:ext cx="4617720" cy="237744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rgbClr val="0B192C"/>
                </a:solidFill>
              </a:rPr>
              <a:t>The drill record writes itself as it happens</a:t>
            </a:r>
            <a:endParaRPr lang="en-US" sz="1700" dirty="0"/>
          </a:p>
          <a:p>
            <a:pPr marL="228600" indent="-228600">
              <a:spcAft>
                <a:spcPts val="1000"/>
              </a:spcAft>
              <a:buSzPct val="100000"/>
              <a:buChar char="•"/>
            </a:pPr>
            <a:r>
              <a:rPr lang="en-US" sz="1700" dirty="0">
                <a:solidFill>
                  <a:srgbClr val="0B192C"/>
                </a:solidFill>
              </a:rPr>
              <a:t>Compliance evidence is generated, not reconstructed</a:t>
            </a:r>
            <a:endParaRPr lang="en-US" sz="1700" dirty="0"/>
          </a:p>
          <a:p>
            <a:pPr marL="228600" indent="-228600">
              <a:spcAft>
                <a:spcPts val="1000"/>
              </a:spcAft>
              <a:buSzPct val="100000"/>
              <a:buChar char="•"/>
            </a:pPr>
            <a:r>
              <a:rPr lang="en-US" sz="1700" dirty="0">
                <a:solidFill>
                  <a:srgbClr val="0B192C"/>
                </a:solidFill>
              </a:rPr>
              <a:t>One sign-in serves attendance, visitors and drills</a:t>
            </a:r>
            <a:endParaRPr lang="en-US" sz="1700" dirty="0"/>
          </a:p>
          <a:p>
            <a:pPr marL="228600" indent="-228600">
              <a:spcAft>
                <a:spcPts val="1000"/>
              </a:spcAft>
              <a:buSzPct val="100000"/>
              <a:buChar char="•"/>
            </a:pPr>
            <a:r>
              <a:rPr lang="en-US" sz="1700" dirty="0">
                <a:solidFill>
                  <a:srgbClr val="0B192C"/>
                </a:solidFill>
              </a:rPr>
              <a:t>Data stays current between drills</a:t>
            </a:r>
            <a:endParaRPr lang="en-US" sz="1700" dirty="0"/>
          </a:p>
        </p:txBody>
      </p:sp>
      <p:sp>
        <p:nvSpPr>
          <p:cNvPr id="13" name="tagline"/>
          <p:cNvSpPr txBox="1"/>
          <p:nvPr/>
        </p:nvSpPr>
        <p:spPr>
          <a:xfrm>
            <a:off x="548640" y="5486400"/>
            <a:ext cx="11064240" cy="548640"/>
          </a:xfrm>
          <a:prstGeom prst="rect">
            <a:avLst/>
          </a:prstGeom>
          <a:noFill/>
          <a:ln/>
        </p:spPr>
        <p:txBody>
          <a:bodyPr wrap="square" lIns="0" tIns="0" rIns="0" bIns="0" rtlCol="0" anchor="ctr"/>
          <a:lstStyle/>
          <a:p>
            <a:pPr indent="0" marL="0">
              <a:buNone/>
            </a:pPr>
            <a:r>
              <a:rPr lang="en-US" sz="1800" i="1" dirty="0">
                <a:solidFill>
                  <a:srgbClr val="005DAA"/>
                </a:solidFill>
              </a:rPr>
              <a:t>Safety gets us in the door. Operational excellence is why it still gets used on a Tuesday with no drill scheduled.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How it is built, and its limits</a:t>
            </a:r>
            <a:endParaRPr lang="en-US" sz="3200" dirty="0"/>
          </a:p>
        </p:txBody>
      </p:sp>
      <p:sp>
        <p:nvSpPr>
          <p:cNvPr id="3" name="built heading"/>
          <p:cNvSpPr txBox="1"/>
          <p:nvPr/>
        </p:nvSpPr>
        <p:spPr>
          <a:xfrm>
            <a:off x="548640" y="1417320"/>
            <a:ext cx="5486400" cy="457200"/>
          </a:xfrm>
          <a:prstGeom prst="rect">
            <a:avLst/>
          </a:prstGeom>
          <a:noFill/>
          <a:ln/>
        </p:spPr>
        <p:txBody>
          <a:bodyPr wrap="square" lIns="0" tIns="0" rIns="0" bIns="0" rtlCol="0" anchor="ctr"/>
          <a:lstStyle/>
          <a:p>
            <a:pPr indent="0" marL="0">
              <a:buNone/>
            </a:pPr>
            <a:r>
              <a:rPr lang="en-US" sz="2200" b="1" dirty="0">
                <a:solidFill>
                  <a:srgbClr val="005DAA"/>
                </a:solidFill>
                <a:latin typeface="Arial" pitchFamily="34" charset="0"/>
                <a:ea typeface="Arial" pitchFamily="34" charset="-122"/>
                <a:cs typeface="Arial" pitchFamily="34" charset="-120"/>
              </a:rPr>
              <a:t>How it is built</a:t>
            </a:r>
            <a:endParaRPr lang="en-US" sz="2200" dirty="0"/>
          </a:p>
        </p:txBody>
      </p:sp>
      <p:sp>
        <p:nvSpPr>
          <p:cNvPr id="4" name="Any phone browser heading"/>
          <p:cNvSpPr txBox="1"/>
          <p:nvPr/>
        </p:nvSpPr>
        <p:spPr>
          <a:xfrm>
            <a:off x="1371600" y="1993392"/>
            <a:ext cx="4754880" cy="365760"/>
          </a:xfrm>
          <a:prstGeom prst="rect">
            <a:avLst/>
          </a:prstGeom>
          <a:noFill/>
          <a:ln/>
        </p:spPr>
        <p:txBody>
          <a:bodyPr wrap="square" lIns="0" tIns="0" rIns="0" bIns="0" rtlCol="0" anchor="ctr"/>
          <a:lstStyle/>
          <a:p>
            <a:pPr indent="0" marL="0">
              <a:buNone/>
            </a:pPr>
            <a:r>
              <a:rPr lang="en-US" sz="1700" b="1" dirty="0">
                <a:solidFill>
                  <a:srgbClr val="0B192C"/>
                </a:solidFill>
              </a:rPr>
              <a:t>Any phone browser</a:t>
            </a:r>
            <a:endParaRPr lang="en-US" sz="1700" dirty="0"/>
          </a:p>
        </p:txBody>
      </p:sp>
      <p:sp>
        <p:nvSpPr>
          <p:cNvPr id="5" name="Any phone browser text"/>
          <p:cNvSpPr txBox="1"/>
          <p:nvPr/>
        </p:nvSpPr>
        <p:spPr>
          <a:xfrm>
            <a:off x="1371600" y="2359152"/>
            <a:ext cx="4754880" cy="411480"/>
          </a:xfrm>
          <a:prstGeom prst="rect">
            <a:avLst/>
          </a:prstGeom>
          <a:noFill/>
          <a:ln/>
        </p:spPr>
        <p:txBody>
          <a:bodyPr wrap="square" lIns="0" tIns="0" rIns="0" bIns="0" rtlCol="0" anchor="t"/>
          <a:lstStyle/>
          <a:p>
            <a:pPr indent="0" marL="0">
              <a:buNone/>
            </a:pPr>
            <a:r>
              <a:rPr lang="en-US" sz="1400" dirty="0">
                <a:solidFill>
                  <a:srgbClr val="64748B"/>
                </a:solidFill>
              </a:rPr>
              <a:t>No app to install, no account to create</a:t>
            </a:r>
            <a:endParaRPr lang="en-US" sz="1400" dirty="0"/>
          </a:p>
        </p:txBody>
      </p:sp>
      <p:sp>
        <p:nvSpPr>
          <p:cNvPr id="6" name="React and TypeScript front end heading"/>
          <p:cNvSpPr txBox="1"/>
          <p:nvPr/>
        </p:nvSpPr>
        <p:spPr>
          <a:xfrm>
            <a:off x="1371600" y="2953512"/>
            <a:ext cx="4754880" cy="365760"/>
          </a:xfrm>
          <a:prstGeom prst="rect">
            <a:avLst/>
          </a:prstGeom>
          <a:noFill/>
          <a:ln/>
        </p:spPr>
        <p:txBody>
          <a:bodyPr wrap="square" lIns="0" tIns="0" rIns="0" bIns="0" rtlCol="0" anchor="ctr"/>
          <a:lstStyle/>
          <a:p>
            <a:pPr indent="0" marL="0">
              <a:buNone/>
            </a:pPr>
            <a:r>
              <a:rPr lang="en-US" sz="1700" b="1" dirty="0">
                <a:solidFill>
                  <a:srgbClr val="0B192C"/>
                </a:solidFill>
              </a:rPr>
              <a:t>React and TypeScript front end</a:t>
            </a:r>
            <a:endParaRPr lang="en-US" sz="1700" dirty="0"/>
          </a:p>
        </p:txBody>
      </p:sp>
      <p:sp>
        <p:nvSpPr>
          <p:cNvPr id="7" name="React and TypeScript front end text"/>
          <p:cNvSpPr txBox="1"/>
          <p:nvPr/>
        </p:nvSpPr>
        <p:spPr>
          <a:xfrm>
            <a:off x="1371600" y="3319272"/>
            <a:ext cx="4754880" cy="411480"/>
          </a:xfrm>
          <a:prstGeom prst="rect">
            <a:avLst/>
          </a:prstGeom>
          <a:noFill/>
          <a:ln/>
        </p:spPr>
        <p:txBody>
          <a:bodyPr wrap="square" lIns="0" tIns="0" rIns="0" bIns="0" rtlCol="0" anchor="t"/>
          <a:lstStyle/>
          <a:p>
            <a:pPr indent="0" marL="0">
              <a:buNone/>
            </a:pPr>
            <a:r>
              <a:rPr lang="en-US" sz="1400" dirty="0">
                <a:solidFill>
                  <a:srgbClr val="64748B"/>
                </a:solidFill>
              </a:rPr>
              <a:t>One system, a different view for each role</a:t>
            </a:r>
            <a:endParaRPr lang="en-US" sz="1400" dirty="0"/>
          </a:p>
        </p:txBody>
      </p:sp>
      <p:sp>
        <p:nvSpPr>
          <p:cNvPr id="8" name="Node and Express server heading"/>
          <p:cNvSpPr txBox="1"/>
          <p:nvPr/>
        </p:nvSpPr>
        <p:spPr>
          <a:xfrm>
            <a:off x="1371600" y="3913632"/>
            <a:ext cx="4754880" cy="365760"/>
          </a:xfrm>
          <a:prstGeom prst="rect">
            <a:avLst/>
          </a:prstGeom>
          <a:noFill/>
          <a:ln/>
        </p:spPr>
        <p:txBody>
          <a:bodyPr wrap="square" lIns="0" tIns="0" rIns="0" bIns="0" rtlCol="0" anchor="ctr"/>
          <a:lstStyle/>
          <a:p>
            <a:pPr indent="0" marL="0">
              <a:buNone/>
            </a:pPr>
            <a:r>
              <a:rPr lang="en-US" sz="1700" b="1" dirty="0">
                <a:solidFill>
                  <a:srgbClr val="0B192C"/>
                </a:solidFill>
              </a:rPr>
              <a:t>Node and Express server</a:t>
            </a:r>
            <a:endParaRPr lang="en-US" sz="1700" dirty="0"/>
          </a:p>
        </p:txBody>
      </p:sp>
      <p:sp>
        <p:nvSpPr>
          <p:cNvPr id="9" name="Node and Express server text"/>
          <p:cNvSpPr txBox="1"/>
          <p:nvPr/>
        </p:nvSpPr>
        <p:spPr>
          <a:xfrm>
            <a:off x="1371600" y="4279392"/>
            <a:ext cx="4754880" cy="411480"/>
          </a:xfrm>
          <a:prstGeom prst="rect">
            <a:avLst/>
          </a:prstGeom>
          <a:noFill/>
          <a:ln/>
        </p:spPr>
        <p:txBody>
          <a:bodyPr wrap="square" lIns="0" tIns="0" rIns="0" bIns="0" rtlCol="0" anchor="t"/>
          <a:lstStyle/>
          <a:p>
            <a:pPr indent="0" marL="0">
              <a:buNone/>
            </a:pPr>
            <a:r>
              <a:rPr lang="en-US" sz="1400" dirty="0">
                <a:solidFill>
                  <a:srgbClr val="64748B"/>
                </a:solidFill>
              </a:rPr>
              <a:t>Live updates to every screen, so nobody reads a stale count</a:t>
            </a:r>
            <a:endParaRPr lang="en-US" sz="1400" dirty="0"/>
          </a:p>
        </p:txBody>
      </p:sp>
      <p:sp>
        <p:nvSpPr>
          <p:cNvPr id="10" name="Hash-chained audit log heading"/>
          <p:cNvSpPr txBox="1"/>
          <p:nvPr/>
        </p:nvSpPr>
        <p:spPr>
          <a:xfrm>
            <a:off x="1371600" y="4873752"/>
            <a:ext cx="4754880" cy="365760"/>
          </a:xfrm>
          <a:prstGeom prst="rect">
            <a:avLst/>
          </a:prstGeom>
          <a:noFill/>
          <a:ln/>
        </p:spPr>
        <p:txBody>
          <a:bodyPr wrap="square" lIns="0" tIns="0" rIns="0" bIns="0" rtlCol="0" anchor="ctr"/>
          <a:lstStyle/>
          <a:p>
            <a:pPr indent="0" marL="0">
              <a:buNone/>
            </a:pPr>
            <a:r>
              <a:rPr lang="en-US" sz="1700" b="1" dirty="0">
                <a:solidFill>
                  <a:srgbClr val="0B192C"/>
                </a:solidFill>
              </a:rPr>
              <a:t>Hash-chained audit log</a:t>
            </a:r>
            <a:endParaRPr lang="en-US" sz="1700" dirty="0"/>
          </a:p>
        </p:txBody>
      </p:sp>
      <p:sp>
        <p:nvSpPr>
          <p:cNvPr id="11" name="Hash-chained audit log text"/>
          <p:cNvSpPr txBox="1"/>
          <p:nvPr/>
        </p:nvSpPr>
        <p:spPr>
          <a:xfrm>
            <a:off x="1371600" y="5239512"/>
            <a:ext cx="4754880" cy="411480"/>
          </a:xfrm>
          <a:prstGeom prst="rect">
            <a:avLst/>
          </a:prstGeom>
          <a:noFill/>
          <a:ln/>
        </p:spPr>
        <p:txBody>
          <a:bodyPr wrap="square" lIns="0" tIns="0" rIns="0" bIns="0" rtlCol="0" anchor="t"/>
          <a:lstStyle/>
          <a:p>
            <a:pPr indent="0" marL="0">
              <a:buNone/>
            </a:pPr>
            <a:r>
              <a:rPr lang="en-US" sz="1400" dirty="0">
                <a:solidFill>
                  <a:srgbClr val="64748B"/>
                </a:solidFill>
              </a:rPr>
              <a:t>Every action recorded; edits to the record are detectable</a:t>
            </a:r>
            <a:endParaRPr lang="en-US" sz="1400" dirty="0"/>
          </a:p>
        </p:txBody>
      </p:sp>
      <p:sp>
        <p:nvSpPr>
          <p:cNvPr id="12" name="Any phone browser circle"/>
          <p:cNvSpPr/>
          <p:nvPr/>
        </p:nvSpPr>
        <p:spPr>
          <a:xfrm>
            <a:off x="548640" y="2011680"/>
            <a:ext cx="640080" cy="640080"/>
          </a:xfrm>
          <a:prstGeom prst="ellipse">
            <a:avLst/>
          </a:prstGeom>
          <a:solidFill>
            <a:srgbClr val="005DAA"/>
          </a:solidFill>
          <a:ln w="12700">
            <a:solidFill>
              <a:srgbClr val="005DAA"/>
            </a:solidFill>
            <a:prstDash val="solid"/>
          </a:ln>
        </p:spPr>
      </p:sp>
      <p:pic>
        <p:nvPicPr>
          <p:cNvPr id="13" name="Any phone browser icon" descr="preencoded.png">    </p:cNvPr>
          <p:cNvPicPr>
            <a:picLocks noChangeAspect="1"/>
          </p:cNvPicPr>
          <p:nvPr/>
        </p:nvPicPr>
        <p:blipFill>
          <a:blip r:embed="rId1"/>
          <a:stretch>
            <a:fillRect/>
          </a:stretch>
        </p:blipFill>
        <p:spPr>
          <a:xfrm>
            <a:off x="708660" y="2171700"/>
            <a:ext cx="320040" cy="320040"/>
          </a:xfrm>
          <a:prstGeom prst="rect">
            <a:avLst/>
          </a:prstGeom>
        </p:spPr>
      </p:pic>
      <p:sp>
        <p:nvSpPr>
          <p:cNvPr id="14" name="React and TypeScript front end circle"/>
          <p:cNvSpPr/>
          <p:nvPr/>
        </p:nvSpPr>
        <p:spPr>
          <a:xfrm>
            <a:off x="548640" y="2971800"/>
            <a:ext cx="640080" cy="640080"/>
          </a:xfrm>
          <a:prstGeom prst="ellipse">
            <a:avLst/>
          </a:prstGeom>
          <a:solidFill>
            <a:srgbClr val="005DAA"/>
          </a:solidFill>
          <a:ln w="12700">
            <a:solidFill>
              <a:srgbClr val="005DAA"/>
            </a:solidFill>
            <a:prstDash val="solid"/>
          </a:ln>
        </p:spPr>
      </p:sp>
      <p:pic>
        <p:nvPicPr>
          <p:cNvPr id="15" name="React and TypeScript front end icon" descr="preencoded.png">    </p:cNvPr>
          <p:cNvPicPr>
            <a:picLocks noChangeAspect="1"/>
          </p:cNvPicPr>
          <p:nvPr/>
        </p:nvPicPr>
        <p:blipFill>
          <a:blip r:embed="rId2"/>
          <a:stretch>
            <a:fillRect/>
          </a:stretch>
        </p:blipFill>
        <p:spPr>
          <a:xfrm>
            <a:off x="708660" y="3131820"/>
            <a:ext cx="320040" cy="320040"/>
          </a:xfrm>
          <a:prstGeom prst="rect">
            <a:avLst/>
          </a:prstGeom>
        </p:spPr>
      </p:pic>
      <p:sp>
        <p:nvSpPr>
          <p:cNvPr id="16" name="Node and Express server circle"/>
          <p:cNvSpPr/>
          <p:nvPr/>
        </p:nvSpPr>
        <p:spPr>
          <a:xfrm>
            <a:off x="548640" y="3931920"/>
            <a:ext cx="640080" cy="640080"/>
          </a:xfrm>
          <a:prstGeom prst="ellipse">
            <a:avLst/>
          </a:prstGeom>
          <a:solidFill>
            <a:srgbClr val="005DAA"/>
          </a:solidFill>
          <a:ln w="12700">
            <a:solidFill>
              <a:srgbClr val="005DAA"/>
            </a:solidFill>
            <a:prstDash val="solid"/>
          </a:ln>
        </p:spPr>
      </p:sp>
      <p:pic>
        <p:nvPicPr>
          <p:cNvPr id="17" name="Node and Express server icon" descr="preencoded.png">    </p:cNvPr>
          <p:cNvPicPr>
            <a:picLocks noChangeAspect="1"/>
          </p:cNvPicPr>
          <p:nvPr/>
        </p:nvPicPr>
        <p:blipFill>
          <a:blip r:embed="rId3"/>
          <a:stretch>
            <a:fillRect/>
          </a:stretch>
        </p:blipFill>
        <p:spPr>
          <a:xfrm>
            <a:off x="708660" y="4091940"/>
            <a:ext cx="320040" cy="320040"/>
          </a:xfrm>
          <a:prstGeom prst="rect">
            <a:avLst/>
          </a:prstGeom>
        </p:spPr>
      </p:pic>
      <p:sp>
        <p:nvSpPr>
          <p:cNvPr id="18" name="Hash-chained audit log circle"/>
          <p:cNvSpPr/>
          <p:nvPr/>
        </p:nvSpPr>
        <p:spPr>
          <a:xfrm>
            <a:off x="548640" y="4892040"/>
            <a:ext cx="640080" cy="640080"/>
          </a:xfrm>
          <a:prstGeom prst="ellipse">
            <a:avLst/>
          </a:prstGeom>
          <a:solidFill>
            <a:srgbClr val="005DAA"/>
          </a:solidFill>
          <a:ln w="12700">
            <a:solidFill>
              <a:srgbClr val="005DAA"/>
            </a:solidFill>
            <a:prstDash val="solid"/>
          </a:ln>
        </p:spPr>
      </p:sp>
      <p:pic>
        <p:nvPicPr>
          <p:cNvPr id="19" name="Hash-chained audit log icon" descr="preencoded.png">    </p:cNvPr>
          <p:cNvPicPr>
            <a:picLocks noChangeAspect="1"/>
          </p:cNvPicPr>
          <p:nvPr/>
        </p:nvPicPr>
        <p:blipFill>
          <a:blip r:embed="rId4"/>
          <a:stretch>
            <a:fillRect/>
          </a:stretch>
        </p:blipFill>
        <p:spPr>
          <a:xfrm>
            <a:off x="708660" y="5052060"/>
            <a:ext cx="320040" cy="320040"/>
          </a:xfrm>
          <a:prstGeom prst="rect">
            <a:avLst/>
          </a:prstGeom>
        </p:spPr>
      </p:pic>
      <p:sp>
        <p:nvSpPr>
          <p:cNvPr id="20" name="limits card"/>
          <p:cNvSpPr/>
          <p:nvPr/>
        </p:nvSpPr>
        <p:spPr>
          <a:xfrm>
            <a:off x="6583680" y="1417320"/>
            <a:ext cx="5029200" cy="4343400"/>
          </a:xfrm>
          <a:prstGeom prst="roundRect">
            <a:avLst>
              <a:gd name="adj" fmla="val 2526"/>
            </a:avLst>
          </a:prstGeom>
          <a:solidFill>
            <a:srgbClr val="FDF3E6"/>
          </a:solidFill>
          <a:ln w="12700">
            <a:solidFill>
              <a:srgbClr val="FDF3E6"/>
            </a:solidFill>
            <a:prstDash val="solid"/>
          </a:ln>
          <a:effectLst>
            <a:outerShdw sx="100000" sy="100000" kx="0" ky="0" algn="bl" rotWithShape="0" blurRad="101600" dist="25400" dir="5400000">
              <a:srgbClr val="0B192C">
                <a:alpha val="14000"/>
              </a:srgbClr>
            </a:outerShdw>
          </a:effectLst>
        </p:spPr>
      </p:sp>
      <p:sp>
        <p:nvSpPr>
          <p:cNvPr id="21" name="limits circle"/>
          <p:cNvSpPr/>
          <p:nvPr/>
        </p:nvSpPr>
        <p:spPr>
          <a:xfrm>
            <a:off x="6903720" y="1645920"/>
            <a:ext cx="640080" cy="640080"/>
          </a:xfrm>
          <a:prstGeom prst="ellipse">
            <a:avLst/>
          </a:prstGeom>
          <a:solidFill>
            <a:srgbClr val="D97706"/>
          </a:solidFill>
          <a:ln w="12700">
            <a:solidFill>
              <a:srgbClr val="D97706"/>
            </a:solidFill>
            <a:prstDash val="solid"/>
          </a:ln>
        </p:spPr>
      </p:sp>
      <p:pic>
        <p:nvPicPr>
          <p:cNvPr id="22" name="limits icon" descr="preencoded.png">    </p:cNvPr>
          <p:cNvPicPr>
            <a:picLocks noChangeAspect="1"/>
          </p:cNvPicPr>
          <p:nvPr/>
        </p:nvPicPr>
        <p:blipFill>
          <a:blip r:embed="rId5"/>
          <a:stretch>
            <a:fillRect/>
          </a:stretch>
        </p:blipFill>
        <p:spPr>
          <a:xfrm>
            <a:off x="7063740" y="1805940"/>
            <a:ext cx="320040" cy="320040"/>
          </a:xfrm>
          <a:prstGeom prst="rect">
            <a:avLst/>
          </a:prstGeom>
        </p:spPr>
      </p:pic>
      <p:sp>
        <p:nvSpPr>
          <p:cNvPr id="23" name="limits heading"/>
          <p:cNvSpPr txBox="1"/>
          <p:nvPr/>
        </p:nvSpPr>
        <p:spPr>
          <a:xfrm>
            <a:off x="7726680" y="1645920"/>
            <a:ext cx="3657600" cy="640080"/>
          </a:xfrm>
          <a:prstGeom prst="rect">
            <a:avLst/>
          </a:prstGeom>
          <a:noFill/>
          <a:ln/>
        </p:spPr>
        <p:txBody>
          <a:bodyPr wrap="square" lIns="0" tIns="0" rIns="0" bIns="0" rtlCol="0" anchor="ctr"/>
          <a:lstStyle/>
          <a:p>
            <a:pPr indent="0" marL="0">
              <a:buNone/>
            </a:pPr>
            <a:r>
              <a:rPr lang="en-US" sz="2200" b="1" dirty="0">
                <a:solidFill>
                  <a:srgbClr val="0B192C"/>
                </a:solidFill>
                <a:latin typeface="Arial" pitchFamily="34" charset="0"/>
                <a:ea typeface="Arial" pitchFamily="34" charset="-122"/>
                <a:cs typeface="Arial" pitchFamily="34" charset="-120"/>
              </a:rPr>
              <a:t>Limits today</a:t>
            </a:r>
            <a:endParaRPr lang="en-US" sz="2200" dirty="0"/>
          </a:p>
        </p:txBody>
      </p:sp>
      <p:sp>
        <p:nvSpPr>
          <p:cNvPr id="24" name="limits list"/>
          <p:cNvSpPr txBox="1"/>
          <p:nvPr/>
        </p:nvSpPr>
        <p:spPr>
          <a:xfrm>
            <a:off x="6949440" y="2468880"/>
            <a:ext cx="4297680" cy="3200400"/>
          </a:xfrm>
          <a:prstGeom prst="rect">
            <a:avLst/>
          </a:prstGeom>
          <a:noFill/>
          <a:ln/>
        </p:spPr>
        <p:txBody>
          <a:bodyPr wrap="square" lIns="0" tIns="0" rIns="0" bIns="0" rtlCol="0" anchor="t"/>
          <a:lstStyle/>
          <a:p>
            <a:pPr marL="228600" indent="-228600">
              <a:spcAft>
                <a:spcPts val="1200"/>
              </a:spcAft>
              <a:buSzPct val="100000"/>
              <a:buChar char="•"/>
            </a:pPr>
            <a:r>
              <a:rPr lang="en-US" sz="1500" dirty="0">
                <a:solidFill>
                  <a:srgbClr val="0B192C"/>
                </a:solidFill>
              </a:rPr>
              <a:t>The roster is synthetic: made-up names on a made-up floor</a:t>
            </a:r>
            <a:endParaRPr lang="en-US" sz="1500" dirty="0"/>
          </a:p>
          <a:p>
            <a:pPr marL="228600" indent="-228600">
              <a:spcAft>
                <a:spcPts val="1200"/>
              </a:spcAft>
              <a:buSzPct val="100000"/>
              <a:buChar char="•"/>
            </a:pPr>
            <a:r>
              <a:rPr lang="en-US" sz="1500" dirty="0">
                <a:solidFill>
                  <a:srgbClr val="0B192C"/>
                </a:solidFill>
              </a:rPr>
              <a:t>Not connected to the fire alarm panel</a:t>
            </a:r>
            <a:endParaRPr lang="en-US" sz="1500" dirty="0"/>
          </a:p>
          <a:p>
            <a:pPr marL="228600" indent="-228600">
              <a:spcAft>
                <a:spcPts val="1200"/>
              </a:spcAft>
              <a:buSzPct val="100000"/>
              <a:buChar char="•"/>
            </a:pPr>
            <a:r>
              <a:rPr lang="en-US" sz="1500" dirty="0">
                <a:solidFill>
                  <a:srgbClr val="0B192C"/>
                </a:solidFill>
              </a:rPr>
              <a:t>Alerts reach phones with the app open; SMS and push are not connected</a:t>
            </a:r>
            <a:endParaRPr lang="en-US" sz="1500" dirty="0"/>
          </a:p>
          <a:p>
            <a:pPr marL="228600" indent="-228600">
              <a:spcAft>
                <a:spcPts val="1200"/>
              </a:spcAft>
              <a:buSzPct val="100000"/>
              <a:buChar char="•"/>
            </a:pPr>
            <a:r>
              <a:rPr lang="en-US" sz="1500" dirty="0">
                <a:solidFill>
                  <a:srgbClr val="0B192C"/>
                </a:solidFill>
              </a:rPr>
              <a:t>Audit log and roster survive a restart (saved to disk, auto-loaded)</a:t>
            </a:r>
            <a:endParaRPr lang="en-US" sz="1500" dirty="0"/>
          </a:p>
          <a:p>
            <a:pPr marL="228600" indent="-228600">
              <a:spcAft>
                <a:spcPts val="1200"/>
              </a:spcAft>
              <a:buSzPct val="100000"/>
              <a:buChar char="•"/>
            </a:pPr>
            <a:r>
              <a:rPr lang="en-US" sz="1500" dirty="0">
                <a:solidFill>
                  <a:srgbClr val="0B192C"/>
                </a:solidFill>
              </a:rPr>
              <a:t>AI drafts summaries; a person reviews them before they are official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The phone demo, step by step</a:t>
            </a:r>
            <a:endParaRPr lang="en-US" sz="3200" dirty="0"/>
          </a:p>
        </p:txBody>
      </p:sp>
      <p:sp>
        <p:nvSpPr>
          <p:cNvPr id="3" name="step 1"/>
          <p:cNvSpPr/>
          <p:nvPr/>
        </p:nvSpPr>
        <p:spPr>
          <a:xfrm>
            <a:off x="653385" y="1371600"/>
            <a:ext cx="384048" cy="384048"/>
          </a:xfrm>
          <a:prstGeom prst="ellipse">
            <a:avLst/>
          </a:prstGeom>
          <a:solidFill>
            <a:srgbClr val="005DAA"/>
          </a:solidFill>
          <a:ln w="12700">
            <a:solidFill>
              <a:srgbClr val="005DAA"/>
            </a:solidFill>
            <a:prstDash val="solid"/>
          </a:ln>
        </p:spPr>
      </p:sp>
      <p:sp>
        <p:nvSpPr>
          <p:cNvPr id="4" name="step 1 number"/>
          <p:cNvSpPr txBox="1"/>
          <p:nvPr/>
        </p:nvSpPr>
        <p:spPr>
          <a:xfrm>
            <a:off x="653385"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step text 1"/>
          <p:cNvSpPr txBox="1"/>
          <p:nvPr/>
        </p:nvSpPr>
        <p:spPr>
          <a:xfrm>
            <a:off x="1128873" y="1280160"/>
            <a:ext cx="1615714" cy="566928"/>
          </a:xfrm>
          <a:prstGeom prst="rect">
            <a:avLst/>
          </a:prstGeom>
          <a:noFill/>
          <a:ln/>
        </p:spPr>
        <p:txBody>
          <a:bodyPr wrap="square" lIns="0" tIns="0" rIns="0" bIns="0" rtlCol="0" anchor="ctr"/>
          <a:lstStyle/>
          <a:p>
            <a:pPr indent="0" marL="0">
              <a:buNone/>
            </a:pPr>
            <a:r>
              <a:rPr lang="en-US" sz="1250" b="1" dirty="0">
                <a:solidFill>
                  <a:srgbClr val="0B192C"/>
                </a:solidFill>
              </a:rPr>
              <a:t>Sign in on the phone</a:t>
            </a:r>
            <a:endParaRPr lang="en-US" sz="1250" dirty="0"/>
          </a:p>
        </p:txBody>
      </p:sp>
      <p:sp>
        <p:nvSpPr>
          <p:cNvPr id="6" name="phone signed in frame"/>
          <p:cNvSpPr/>
          <p:nvPr/>
        </p:nvSpPr>
        <p:spPr>
          <a:xfrm>
            <a:off x="589377" y="1947672"/>
            <a:ext cx="1944932" cy="4059936"/>
          </a:xfrm>
          <a:prstGeom prst="roundRect">
            <a:avLst>
              <a:gd name="adj" fmla="val 7522"/>
            </a:avLst>
          </a:prstGeom>
          <a:solidFill>
            <a:srgbClr val="0B192C"/>
          </a:solidFill>
          <a:ln w="12700">
            <a:solidFill>
              <a:srgbClr val="0B192C"/>
            </a:solidFill>
            <a:prstDash val="solid"/>
          </a:ln>
          <a:effectLst>
            <a:outerShdw sx="100000" sy="100000" kx="0" ky="0" algn="bl" rotWithShape="0" blurRad="101600" dist="25400" dir="5400000">
              <a:srgbClr val="0B192C">
                <a:alpha val="14000"/>
              </a:srgbClr>
            </a:outerShdw>
          </a:effectLst>
        </p:spPr>
      </p:sp>
      <p:pic>
        <p:nvPicPr>
          <p:cNvPr id="7" name="phone signed in" descr="/home/claude/deck/img/10-phone-pass.jpg">    </p:cNvPr>
          <p:cNvPicPr>
            <a:picLocks noChangeAspect="1"/>
          </p:cNvPicPr>
          <p:nvPr/>
        </p:nvPicPr>
        <p:blipFill>
          <a:blip r:embed="rId1"/>
          <a:stretch>
            <a:fillRect/>
          </a:stretch>
        </p:blipFill>
        <p:spPr>
          <a:xfrm>
            <a:off x="653385" y="2011680"/>
            <a:ext cx="1816916" cy="3931920"/>
          </a:xfrm>
          <a:prstGeom prst="rect">
            <a:avLst/>
          </a:prstGeom>
        </p:spPr>
      </p:pic>
      <p:sp>
        <p:nvSpPr>
          <p:cNvPr id="8" name="step 2"/>
          <p:cNvSpPr/>
          <p:nvPr/>
        </p:nvSpPr>
        <p:spPr>
          <a:xfrm>
            <a:off x="2836028" y="1371600"/>
            <a:ext cx="384048" cy="384048"/>
          </a:xfrm>
          <a:prstGeom prst="ellipse">
            <a:avLst/>
          </a:prstGeom>
          <a:solidFill>
            <a:srgbClr val="005DAA"/>
          </a:solidFill>
          <a:ln w="12700">
            <a:solidFill>
              <a:srgbClr val="005DAA"/>
            </a:solidFill>
            <a:prstDash val="solid"/>
          </a:ln>
        </p:spPr>
      </p:sp>
      <p:sp>
        <p:nvSpPr>
          <p:cNvPr id="9" name="step 2 number"/>
          <p:cNvSpPr txBox="1"/>
          <p:nvPr/>
        </p:nvSpPr>
        <p:spPr>
          <a:xfrm>
            <a:off x="2836028"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text 2"/>
          <p:cNvSpPr txBox="1"/>
          <p:nvPr/>
        </p:nvSpPr>
        <p:spPr>
          <a:xfrm>
            <a:off x="3311516" y="1280160"/>
            <a:ext cx="1661434" cy="566928"/>
          </a:xfrm>
          <a:prstGeom prst="rect">
            <a:avLst/>
          </a:prstGeom>
          <a:noFill/>
          <a:ln/>
        </p:spPr>
        <p:txBody>
          <a:bodyPr wrap="square" lIns="0" tIns="0" rIns="0" bIns="0" rtlCol="0" anchor="ctr"/>
          <a:lstStyle/>
          <a:p>
            <a:pPr indent="0" marL="0">
              <a:buNone/>
            </a:pPr>
            <a:r>
              <a:rPr lang="en-US" sz="1250" b="1" dirty="0">
                <a:solidFill>
                  <a:srgbClr val="0B192C"/>
                </a:solidFill>
              </a:rPr>
              <a:t>Drill alert, six languages</a:t>
            </a:r>
            <a:endParaRPr lang="en-US" sz="1250" dirty="0"/>
          </a:p>
        </p:txBody>
      </p:sp>
      <p:sp>
        <p:nvSpPr>
          <p:cNvPr id="11" name="phone alert in Spanish frame"/>
          <p:cNvSpPr/>
          <p:nvPr/>
        </p:nvSpPr>
        <p:spPr>
          <a:xfrm>
            <a:off x="2772020" y="1947672"/>
            <a:ext cx="1944932" cy="4059936"/>
          </a:xfrm>
          <a:prstGeom prst="roundRect">
            <a:avLst>
              <a:gd name="adj" fmla="val 7522"/>
            </a:avLst>
          </a:prstGeom>
          <a:solidFill>
            <a:srgbClr val="0B192C"/>
          </a:solidFill>
          <a:ln w="12700">
            <a:solidFill>
              <a:srgbClr val="0B192C"/>
            </a:solidFill>
            <a:prstDash val="solid"/>
          </a:ln>
          <a:effectLst>
            <a:outerShdw sx="100000" sy="100000" kx="0" ky="0" algn="bl" rotWithShape="0" blurRad="101600" dist="25400" dir="5400000">
              <a:srgbClr val="0B192C">
                <a:alpha val="14000"/>
              </a:srgbClr>
            </a:outerShdw>
          </a:effectLst>
        </p:spPr>
      </p:sp>
      <p:pic>
        <p:nvPicPr>
          <p:cNvPr id="12" name="phone alert in Spanish" descr="/home/claude/deck/img/11-phone-alert-es.jpg">    </p:cNvPr>
          <p:cNvPicPr>
            <a:picLocks noChangeAspect="1"/>
          </p:cNvPicPr>
          <p:nvPr/>
        </p:nvPicPr>
        <p:blipFill>
          <a:blip r:embed="rId2"/>
          <a:stretch>
            <a:fillRect/>
          </a:stretch>
        </p:blipFill>
        <p:spPr>
          <a:xfrm>
            <a:off x="2836028" y="2011680"/>
            <a:ext cx="1816916" cy="3931920"/>
          </a:xfrm>
          <a:prstGeom prst="rect">
            <a:avLst/>
          </a:prstGeom>
        </p:spPr>
      </p:pic>
      <p:sp>
        <p:nvSpPr>
          <p:cNvPr id="13" name="step 3"/>
          <p:cNvSpPr/>
          <p:nvPr/>
        </p:nvSpPr>
        <p:spPr>
          <a:xfrm>
            <a:off x="5018670" y="1371600"/>
            <a:ext cx="384048" cy="384048"/>
          </a:xfrm>
          <a:prstGeom prst="ellipse">
            <a:avLst/>
          </a:prstGeom>
          <a:solidFill>
            <a:srgbClr val="B91C1C"/>
          </a:solidFill>
          <a:ln w="12700">
            <a:solidFill>
              <a:srgbClr val="B91C1C"/>
            </a:solidFill>
            <a:prstDash val="solid"/>
          </a:ln>
        </p:spPr>
      </p:sp>
      <p:sp>
        <p:nvSpPr>
          <p:cNvPr id="14" name="step 3 number"/>
          <p:cNvSpPr txBox="1"/>
          <p:nvPr/>
        </p:nvSpPr>
        <p:spPr>
          <a:xfrm>
            <a:off x="5018670"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step text 3"/>
          <p:cNvSpPr txBox="1"/>
          <p:nvPr/>
        </p:nvSpPr>
        <p:spPr>
          <a:xfrm>
            <a:off x="5494158" y="1280160"/>
            <a:ext cx="1615714" cy="566928"/>
          </a:xfrm>
          <a:prstGeom prst="rect">
            <a:avLst/>
          </a:prstGeom>
          <a:noFill/>
          <a:ln/>
        </p:spPr>
        <p:txBody>
          <a:bodyPr wrap="square" lIns="0" tIns="0" rIns="0" bIns="0" rtlCol="0" anchor="ctr"/>
          <a:lstStyle/>
          <a:p>
            <a:pPr indent="0" marL="0">
              <a:buNone/>
            </a:pPr>
            <a:r>
              <a:rPr lang="en-US" sz="1250" b="1" dirty="0">
                <a:solidFill>
                  <a:srgbClr val="0B192C"/>
                </a:solidFill>
              </a:rPr>
              <a:t>"I need help"</a:t>
            </a:r>
            <a:endParaRPr lang="en-US" sz="1250" dirty="0"/>
          </a:p>
        </p:txBody>
      </p:sp>
      <p:sp>
        <p:nvSpPr>
          <p:cNvPr id="16" name="phone help request frame"/>
          <p:cNvSpPr/>
          <p:nvPr/>
        </p:nvSpPr>
        <p:spPr>
          <a:xfrm>
            <a:off x="4954662" y="1947672"/>
            <a:ext cx="1944932" cy="4059936"/>
          </a:xfrm>
          <a:prstGeom prst="roundRect">
            <a:avLst>
              <a:gd name="adj" fmla="val 7522"/>
            </a:avLst>
          </a:prstGeom>
          <a:solidFill>
            <a:srgbClr val="0B192C"/>
          </a:solidFill>
          <a:ln w="12700">
            <a:solidFill>
              <a:srgbClr val="0B192C"/>
            </a:solidFill>
            <a:prstDash val="solid"/>
          </a:ln>
          <a:effectLst>
            <a:outerShdw sx="100000" sy="100000" kx="0" ky="0" algn="bl" rotWithShape="0" blurRad="101600" dist="25400" dir="5400000">
              <a:srgbClr val="0B192C">
                <a:alpha val="14000"/>
              </a:srgbClr>
            </a:outerShdw>
          </a:effectLst>
        </p:spPr>
      </p:sp>
      <p:pic>
        <p:nvPicPr>
          <p:cNvPr id="17" name="phone help request" descr="/home/claude/deck/img/12-phone-help.jpg">    </p:cNvPr>
          <p:cNvPicPr>
            <a:picLocks noChangeAspect="1"/>
          </p:cNvPicPr>
          <p:nvPr/>
        </p:nvPicPr>
        <p:blipFill>
          <a:blip r:embed="rId3"/>
          <a:stretch>
            <a:fillRect/>
          </a:stretch>
        </p:blipFill>
        <p:spPr>
          <a:xfrm>
            <a:off x="5018670" y="2011680"/>
            <a:ext cx="1816916" cy="3931920"/>
          </a:xfrm>
          <a:prstGeom prst="rect">
            <a:avLst/>
          </a:prstGeom>
        </p:spPr>
      </p:pic>
      <p:sp>
        <p:nvSpPr>
          <p:cNvPr id="18" name="step 4"/>
          <p:cNvSpPr/>
          <p:nvPr/>
        </p:nvSpPr>
        <p:spPr>
          <a:xfrm>
            <a:off x="7201313" y="1371600"/>
            <a:ext cx="384048" cy="384048"/>
          </a:xfrm>
          <a:prstGeom prst="ellipse">
            <a:avLst/>
          </a:prstGeom>
          <a:solidFill>
            <a:srgbClr val="005DAA"/>
          </a:solidFill>
          <a:ln w="12700">
            <a:solidFill>
              <a:srgbClr val="005DAA"/>
            </a:solidFill>
            <a:prstDash val="solid"/>
          </a:ln>
        </p:spPr>
      </p:sp>
      <p:sp>
        <p:nvSpPr>
          <p:cNvPr id="19" name="step 4 number"/>
          <p:cNvSpPr txBox="1"/>
          <p:nvPr/>
        </p:nvSpPr>
        <p:spPr>
          <a:xfrm>
            <a:off x="7201313" y="13716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step text 4"/>
          <p:cNvSpPr txBox="1"/>
          <p:nvPr/>
        </p:nvSpPr>
        <p:spPr>
          <a:xfrm>
            <a:off x="7676801" y="1280160"/>
            <a:ext cx="3861510" cy="566928"/>
          </a:xfrm>
          <a:prstGeom prst="rect">
            <a:avLst/>
          </a:prstGeom>
          <a:noFill/>
          <a:ln/>
        </p:spPr>
        <p:txBody>
          <a:bodyPr wrap="square" lIns="0" tIns="0" rIns="0" bIns="0" rtlCol="0" anchor="ctr"/>
          <a:lstStyle/>
          <a:p>
            <a:pPr indent="0" marL="0">
              <a:buNone/>
            </a:pPr>
            <a:r>
              <a:rPr lang="en-US" sz="1250" b="1" dirty="0">
                <a:solidFill>
                  <a:srgbClr val="0B192C"/>
                </a:solidFill>
              </a:rPr>
              <a:t>Commander sees who, where, and the route</a:t>
            </a:r>
            <a:endParaRPr lang="en-US" sz="1250" dirty="0"/>
          </a:p>
        </p:txBody>
      </p:sp>
      <p:sp>
        <p:nvSpPr>
          <p:cNvPr id="21" name="rescue frame"/>
          <p:cNvSpPr/>
          <p:nvPr/>
        </p:nvSpPr>
        <p:spPr>
          <a:xfrm>
            <a:off x="7164737" y="1975104"/>
            <a:ext cx="4410150" cy="4005072"/>
          </a:xfrm>
          <a:prstGeom prst="rect">
            <a:avLst/>
          </a:prstGeom>
          <a:solidFill>
            <a:srgbClr val="CBD5E1"/>
          </a:solidFill>
          <a:ln w="12700">
            <a:solidFill>
              <a:srgbClr val="CBD5E1"/>
            </a:solidFill>
            <a:prstDash val="solid"/>
          </a:ln>
          <a:effectLst>
            <a:outerShdw sx="100000" sy="100000" kx="0" ky="0" algn="bl" rotWithShape="0" blurRad="101600" dist="25400" dir="5400000">
              <a:srgbClr val="0B192C">
                <a:alpha val="14000"/>
              </a:srgbClr>
            </a:outerShdw>
          </a:effectLst>
        </p:spPr>
      </p:sp>
      <p:pic>
        <p:nvPicPr>
          <p:cNvPr id="22" name="commander rescue map" descr="/home/claude/deck/img/13-rescue-map.jpg">    </p:cNvPr>
          <p:cNvPicPr>
            <a:picLocks noChangeAspect="1"/>
          </p:cNvPicPr>
          <p:nvPr/>
        </p:nvPicPr>
        <p:blipFill>
          <a:blip r:embed="rId4"/>
          <a:stretch>
            <a:fillRect/>
          </a:stretch>
        </p:blipFill>
        <p:spPr>
          <a:xfrm>
            <a:off x="7201313" y="2011680"/>
            <a:ext cx="4336998" cy="3931920"/>
          </a:xfrm>
          <a:prstGeom prst="rect">
            <a:avLst/>
          </a:prstGeom>
        </p:spPr>
      </p:pic>
      <p:sp>
        <p:nvSpPr>
          <p:cNvPr id="23" name="caveat"/>
          <p:cNvSpPr txBox="1"/>
          <p:nvPr/>
        </p:nvSpPr>
        <p:spPr>
          <a:xfrm>
            <a:off x="548640" y="6035040"/>
            <a:ext cx="9144000" cy="274320"/>
          </a:xfrm>
          <a:prstGeom prst="rect">
            <a:avLst/>
          </a:prstGeom>
          <a:noFill/>
          <a:ln/>
        </p:spPr>
        <p:txBody>
          <a:bodyPr wrap="square" lIns="0" tIns="0" rIns="0" bIns="0" rtlCol="0" anchor="ctr"/>
          <a:lstStyle/>
          <a:p>
            <a:pPr indent="0" marL="0">
              <a:buNone/>
            </a:pPr>
            <a:r>
              <a:rPr lang="en-US" sz="1100" i="1" dirty="0">
                <a:solidFill>
                  <a:srgbClr val="64748B"/>
                </a:solidFill>
              </a:rPr>
              <a:t>Screens from the working prototype on Oct 12. Names and phone numbers are made up.</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ctr"/>
          <a:lstStyle/>
          <a:p>
            <a:pPr algn="l" indent="0" marL="0">
              <a:buNone/>
            </a:pPr>
            <a:r>
              <a:rPr lang="en-US" sz="3200" b="1" dirty="0">
                <a:solidFill>
                  <a:schemeClr val="tx1"/>
                </a:solidFill>
              </a:rPr>
              <a:t>What we need from Con Edison</a:t>
            </a:r>
            <a:endParaRPr lang="en-US" sz="3200" dirty="0"/>
          </a:p>
        </p:txBody>
      </p:sp>
      <p:sp>
        <p:nvSpPr>
          <p:cNvPr id="3" name="ask 1"/>
          <p:cNvSpPr/>
          <p:nvPr/>
        </p:nvSpPr>
        <p:spPr>
          <a:xfrm>
            <a:off x="548640" y="1463040"/>
            <a:ext cx="3429000" cy="3108960"/>
          </a:xfrm>
          <a:prstGeom prst="roundRect">
            <a:avLst>
              <a:gd name="adj" fmla="val 3529"/>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4" name="ask number 1"/>
          <p:cNvSpPr/>
          <p:nvPr/>
        </p:nvSpPr>
        <p:spPr>
          <a:xfrm>
            <a:off x="914400" y="1828800"/>
            <a:ext cx="777240" cy="777240"/>
          </a:xfrm>
          <a:prstGeom prst="ellipse">
            <a:avLst/>
          </a:prstGeom>
          <a:solidFill>
            <a:srgbClr val="005DAA"/>
          </a:solidFill>
          <a:ln w="12700">
            <a:solidFill>
              <a:srgbClr val="005DAA"/>
            </a:solidFill>
            <a:prstDash val="solid"/>
          </a:ln>
        </p:spPr>
      </p:sp>
      <p:sp>
        <p:nvSpPr>
          <p:cNvPr id="5" name="ask number 1 number"/>
          <p:cNvSpPr txBox="1"/>
          <p:nvPr/>
        </p:nvSpPr>
        <p:spPr>
          <a:xfrm>
            <a:off x="914400" y="18288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6" name="ask head 1"/>
          <p:cNvSpPr txBox="1"/>
          <p:nvPr/>
        </p:nvSpPr>
        <p:spPr>
          <a:xfrm>
            <a:off x="914400" y="2788920"/>
            <a:ext cx="2697480" cy="457200"/>
          </a:xfrm>
          <a:prstGeom prst="rect">
            <a:avLst/>
          </a:prstGeom>
          <a:noFill/>
          <a:ln/>
        </p:spPr>
        <p:txBody>
          <a:bodyPr wrap="square" lIns="0" tIns="0" rIns="0" bIns="0" rtlCol="0" anchor="ctr"/>
          <a:lstStyle/>
          <a:p>
            <a:pPr indent="0" marL="0">
              <a:buNone/>
            </a:pPr>
            <a:r>
              <a:rPr lang="en-US" sz="2200" b="1" dirty="0">
                <a:solidFill>
                  <a:srgbClr val="0B192C"/>
                </a:solidFill>
                <a:latin typeface="Arial" pitchFamily="34" charset="0"/>
                <a:ea typeface="Arial" pitchFamily="34" charset="-122"/>
                <a:cs typeface="Arial" pitchFamily="34" charset="-120"/>
              </a:rPr>
              <a:t>Real floor data</a:t>
            </a:r>
            <a:endParaRPr lang="en-US" sz="2200" dirty="0"/>
          </a:p>
        </p:txBody>
      </p:sp>
      <p:sp>
        <p:nvSpPr>
          <p:cNvPr id="7" name="ask body 1"/>
          <p:cNvSpPr txBox="1"/>
          <p:nvPr/>
        </p:nvSpPr>
        <p:spPr>
          <a:xfrm>
            <a:off x="914400" y="3291840"/>
            <a:ext cx="2697480" cy="1188720"/>
          </a:xfrm>
          <a:prstGeom prst="rect">
            <a:avLst/>
          </a:prstGeom>
          <a:noFill/>
          <a:ln/>
        </p:spPr>
        <p:txBody>
          <a:bodyPr wrap="square" lIns="0" tIns="0" rIns="0" bIns="0" rtlCol="0" anchor="t"/>
          <a:lstStyle/>
          <a:p>
            <a:pPr indent="0" marL="0">
              <a:buNone/>
            </a:pPr>
            <a:r>
              <a:rPr lang="en-US" sz="1500" dirty="0">
                <a:solidFill>
                  <a:srgbClr val="0B192C"/>
                </a:solidFill>
              </a:rPr>
              <a:t>The quadrants, the stairwells, the assembly points, and how your roster represents contractors and visitors.</a:t>
            </a:r>
            <a:endParaRPr lang="en-US" sz="1500" dirty="0"/>
          </a:p>
        </p:txBody>
      </p:sp>
      <p:sp>
        <p:nvSpPr>
          <p:cNvPr id="8" name="ask 2"/>
          <p:cNvSpPr/>
          <p:nvPr/>
        </p:nvSpPr>
        <p:spPr>
          <a:xfrm>
            <a:off x="4366260" y="1463040"/>
            <a:ext cx="3429000" cy="3108960"/>
          </a:xfrm>
          <a:prstGeom prst="roundRect">
            <a:avLst>
              <a:gd name="adj" fmla="val 3529"/>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9" name="ask number 2"/>
          <p:cNvSpPr/>
          <p:nvPr/>
        </p:nvSpPr>
        <p:spPr>
          <a:xfrm>
            <a:off x="4732020" y="1828800"/>
            <a:ext cx="777240" cy="777240"/>
          </a:xfrm>
          <a:prstGeom prst="ellipse">
            <a:avLst/>
          </a:prstGeom>
          <a:solidFill>
            <a:srgbClr val="005DAA"/>
          </a:solidFill>
          <a:ln w="12700">
            <a:solidFill>
              <a:srgbClr val="005DAA"/>
            </a:solidFill>
            <a:prstDash val="solid"/>
          </a:ln>
        </p:spPr>
      </p:sp>
      <p:sp>
        <p:nvSpPr>
          <p:cNvPr id="10" name="ask number 2 number"/>
          <p:cNvSpPr txBox="1"/>
          <p:nvPr/>
        </p:nvSpPr>
        <p:spPr>
          <a:xfrm>
            <a:off x="4732020" y="18288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1" name="ask head 2"/>
          <p:cNvSpPr txBox="1"/>
          <p:nvPr/>
        </p:nvSpPr>
        <p:spPr>
          <a:xfrm>
            <a:off x="4732020" y="2788920"/>
            <a:ext cx="2697480" cy="457200"/>
          </a:xfrm>
          <a:prstGeom prst="rect">
            <a:avLst/>
          </a:prstGeom>
          <a:noFill/>
          <a:ln/>
        </p:spPr>
        <p:txBody>
          <a:bodyPr wrap="square" lIns="0" tIns="0" rIns="0" bIns="0" rtlCol="0" anchor="ctr"/>
          <a:lstStyle/>
          <a:p>
            <a:pPr indent="0" marL="0">
              <a:buNone/>
            </a:pPr>
            <a:r>
              <a:rPr lang="en-US" sz="2200" b="1" dirty="0">
                <a:solidFill>
                  <a:srgbClr val="0B192C"/>
                </a:solidFill>
                <a:latin typeface="Arial" pitchFamily="34" charset="0"/>
                <a:ea typeface="Arial" pitchFamily="34" charset="-122"/>
                <a:cs typeface="Arial" pitchFamily="34" charset="-120"/>
              </a:rPr>
              <a:t>Drill records</a:t>
            </a:r>
            <a:endParaRPr lang="en-US" sz="2200" dirty="0"/>
          </a:p>
        </p:txBody>
      </p:sp>
      <p:sp>
        <p:nvSpPr>
          <p:cNvPr id="12" name="ask body 2"/>
          <p:cNvSpPr txBox="1"/>
          <p:nvPr/>
        </p:nvSpPr>
        <p:spPr>
          <a:xfrm>
            <a:off x="4732020" y="3291840"/>
            <a:ext cx="2697480" cy="1188720"/>
          </a:xfrm>
          <a:prstGeom prst="rect">
            <a:avLst/>
          </a:prstGeom>
          <a:noFill/>
          <a:ln/>
        </p:spPr>
        <p:txBody>
          <a:bodyPr wrap="square" lIns="0" tIns="0" rIns="0" bIns="0" rtlCol="0" anchor="t"/>
          <a:lstStyle/>
          <a:p>
            <a:pPr indent="0" marL="0">
              <a:buNone/>
            </a:pPr>
            <a:r>
              <a:rPr lang="en-US" sz="1500" dirty="0">
                <a:solidFill>
                  <a:srgbClr val="0B192C"/>
                </a:solidFill>
              </a:rPr>
              <a:t>Timings from recent drills, so the baseline is your number, not our guess.</a:t>
            </a:r>
            <a:endParaRPr lang="en-US" sz="1500" dirty="0"/>
          </a:p>
        </p:txBody>
      </p:sp>
      <p:sp>
        <p:nvSpPr>
          <p:cNvPr id="13" name="ask 3"/>
          <p:cNvSpPr/>
          <p:nvPr/>
        </p:nvSpPr>
        <p:spPr>
          <a:xfrm>
            <a:off x="8183880" y="1463040"/>
            <a:ext cx="3429000" cy="3108960"/>
          </a:xfrm>
          <a:prstGeom prst="roundRect">
            <a:avLst>
              <a:gd name="adj" fmla="val 3529"/>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14" name="ask number 3"/>
          <p:cNvSpPr/>
          <p:nvPr/>
        </p:nvSpPr>
        <p:spPr>
          <a:xfrm>
            <a:off x="8549640" y="1828800"/>
            <a:ext cx="777240" cy="777240"/>
          </a:xfrm>
          <a:prstGeom prst="ellipse">
            <a:avLst/>
          </a:prstGeom>
          <a:solidFill>
            <a:srgbClr val="005DAA"/>
          </a:solidFill>
          <a:ln w="12700">
            <a:solidFill>
              <a:srgbClr val="005DAA"/>
            </a:solidFill>
            <a:prstDash val="solid"/>
          </a:ln>
        </p:spPr>
      </p:sp>
      <p:sp>
        <p:nvSpPr>
          <p:cNvPr id="15" name="ask number 3 number"/>
          <p:cNvSpPr txBox="1"/>
          <p:nvPr/>
        </p:nvSpPr>
        <p:spPr>
          <a:xfrm>
            <a:off x="8549640" y="18288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6" name="ask head 3"/>
          <p:cNvSpPr txBox="1"/>
          <p:nvPr/>
        </p:nvSpPr>
        <p:spPr>
          <a:xfrm>
            <a:off x="8549640" y="2788920"/>
            <a:ext cx="2697480" cy="457200"/>
          </a:xfrm>
          <a:prstGeom prst="rect">
            <a:avLst/>
          </a:prstGeom>
          <a:noFill/>
          <a:ln/>
        </p:spPr>
        <p:txBody>
          <a:bodyPr wrap="square" lIns="0" tIns="0" rIns="0" bIns="0" rtlCol="0" anchor="ctr"/>
          <a:lstStyle/>
          <a:p>
            <a:pPr indent="0" marL="0">
              <a:buNone/>
            </a:pPr>
            <a:r>
              <a:rPr lang="en-US" sz="2200" b="1" dirty="0">
                <a:solidFill>
                  <a:srgbClr val="0B192C"/>
                </a:solidFill>
                <a:latin typeface="Arial" pitchFamily="34" charset="0"/>
                <a:ea typeface="Arial" pitchFamily="34" charset="-122"/>
                <a:cs typeface="Arial" pitchFamily="34" charset="-120"/>
              </a:rPr>
              <a:t>One floor to pilot</a:t>
            </a:r>
            <a:endParaRPr lang="en-US" sz="2200" dirty="0"/>
          </a:p>
        </p:txBody>
      </p:sp>
      <p:sp>
        <p:nvSpPr>
          <p:cNvPr id="17" name="ask body 3"/>
          <p:cNvSpPr txBox="1"/>
          <p:nvPr/>
        </p:nvSpPr>
        <p:spPr>
          <a:xfrm>
            <a:off x="8549640" y="3291840"/>
            <a:ext cx="2697480" cy="1188720"/>
          </a:xfrm>
          <a:prstGeom prst="rect">
            <a:avLst/>
          </a:prstGeom>
          <a:noFill/>
          <a:ln/>
        </p:spPr>
        <p:txBody>
          <a:bodyPr wrap="square" lIns="0" tIns="0" rIns="0" bIns="0" rtlCol="0" anchor="t"/>
          <a:lstStyle/>
          <a:p>
            <a:pPr indent="0" marL="0">
              <a:buNone/>
            </a:pPr>
            <a:r>
              <a:rPr lang="en-US" sz="1500" dirty="0">
                <a:solidFill>
                  <a:srgbClr val="0B192C"/>
                </a:solidFill>
              </a:rPr>
              <a:t>A single scheduled drill, observed beside the current paper process.</a:t>
            </a:r>
            <a:endParaRPr lang="en-US" sz="1500" dirty="0"/>
          </a:p>
        </p:txBody>
      </p:sp>
      <p:sp>
        <p:nvSpPr>
          <p:cNvPr id="18" name="today banner"/>
          <p:cNvSpPr/>
          <p:nvPr/>
        </p:nvSpPr>
        <p:spPr>
          <a:xfrm>
            <a:off x="548640" y="4892040"/>
            <a:ext cx="11064240" cy="1005840"/>
          </a:xfrm>
          <a:prstGeom prst="roundRect">
            <a:avLst>
              <a:gd name="adj" fmla="val 10909"/>
            </a:avLst>
          </a:prstGeom>
          <a:solidFill>
            <a:srgbClr val="005DAA"/>
          </a:solidFill>
          <a:ln w="12700">
            <a:solidFill>
              <a:srgbClr val="005DAA"/>
            </a:solidFill>
            <a:prstDash val="solid"/>
          </a:ln>
        </p:spPr>
      </p:sp>
      <p:sp>
        <p:nvSpPr>
          <p:cNvPr id="19" name="today circle"/>
          <p:cNvSpPr/>
          <p:nvPr/>
        </p:nvSpPr>
        <p:spPr>
          <a:xfrm>
            <a:off x="868680" y="5074920"/>
            <a:ext cx="640080" cy="640080"/>
          </a:xfrm>
          <a:prstGeom prst="ellipse">
            <a:avLst/>
          </a:prstGeom>
          <a:solidFill>
            <a:srgbClr val="FFFFFF"/>
          </a:solidFill>
          <a:ln w="12700">
            <a:solidFill>
              <a:srgbClr val="FFFFFF"/>
            </a:solidFill>
            <a:prstDash val="solid"/>
          </a:ln>
        </p:spPr>
      </p:sp>
      <p:pic>
        <p:nvPicPr>
          <p:cNvPr id="20" name="today icon" descr="preencoded.png">    </p:cNvPr>
          <p:cNvPicPr>
            <a:picLocks noChangeAspect="1"/>
          </p:cNvPicPr>
          <p:nvPr/>
        </p:nvPicPr>
        <p:blipFill>
          <a:blip r:embed="rId1"/>
          <a:stretch>
            <a:fillRect/>
          </a:stretch>
        </p:blipFill>
        <p:spPr>
          <a:xfrm>
            <a:off x="1028700" y="5234940"/>
            <a:ext cx="320040" cy="320040"/>
          </a:xfrm>
          <a:prstGeom prst="rect">
            <a:avLst/>
          </a:prstGeom>
        </p:spPr>
      </p:pic>
      <p:sp>
        <p:nvSpPr>
          <p:cNvPr id="21" name="today text"/>
          <p:cNvSpPr txBox="1"/>
          <p:nvPr/>
        </p:nvSpPr>
        <p:spPr>
          <a:xfrm>
            <a:off x="1737360" y="4892040"/>
            <a:ext cx="9601200" cy="1005840"/>
          </a:xfrm>
          <a:prstGeom prst="rect">
            <a:avLst/>
          </a:prstGeom>
          <a:noFill/>
          <a:ln/>
        </p:spPr>
        <p:txBody>
          <a:bodyPr wrap="square" lIns="0" tIns="0" rIns="0" bIns="0" rtlCol="0" anchor="ctr"/>
          <a:lstStyle/>
          <a:p>
            <a:pPr indent="0" marL="0">
              <a:buNone/>
            </a:pPr>
            <a:r>
              <a:rPr lang="en-US" sz="2000" b="1" dirty="0">
                <a:solidFill>
                  <a:srgbClr val="FFFFFF"/>
                </a:solidFill>
              </a:rPr>
              <a:t>Leaving today with:  </a:t>
            </a:r>
            <a:pPr indent="0" marL="0">
              <a:buNone/>
            </a:pPr>
            <a:r>
              <a:rPr lang="en-US" sz="2000" dirty="0">
                <a:solidFill>
                  <a:srgbClr val="FFFFFF"/>
                </a:solidFill>
              </a:rPr>
              <a:t>a name for the floor data and a date for the first drill.</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188720"/>
          </a:xfrm>
          <a:prstGeom prst="rect">
            <a:avLst/>
          </a:prstGeom>
          <a:noFill/>
          <a:ln/>
        </p:spPr>
        <p:txBody>
          <a:bodyPr wrap="square" lIns="0" tIns="0" rIns="0" bIns="0" rtlCol="0" anchor="b"/>
          <a:lstStyle/>
          <a:p>
            <a:pPr algn="l" indent="0" marL="0">
              <a:buNone/>
            </a:pPr>
            <a:r>
              <a:rPr lang="en-US" sz="5400" b="1" dirty="0">
                <a:solidFill>
                  <a:schemeClr val="bg1"/>
                </a:solidFill>
              </a:rPr>
              <a:t>Next steps are a conversation</a:t>
            </a:r>
            <a:endParaRPr lang="en-US" sz="5400" dirty="0"/>
          </a:p>
        </p:txBody>
      </p:sp>
      <p:sp>
        <p:nvSpPr>
          <p:cNvPr id="3" name="Text 0"/>
          <p:cNvSpPr/>
          <p:nvPr>
            <p:ph idx="101" type="body" hasCustomPrompt="1"/>
          </p:nvPr>
        </p:nvSpPr>
        <p:spPr>
          <a:xfrm>
            <a:off x="640080" y="2697480"/>
            <a:ext cx="7589520" cy="1005840"/>
          </a:xfrm>
          <a:prstGeom prst="rect">
            <a:avLst/>
          </a:prstGeom>
          <a:noFill/>
          <a:ln/>
        </p:spPr>
        <p:txBody>
          <a:bodyPr wrap="square" lIns="0" tIns="0" rIns="0" bIns="0" rtlCol="0" anchor="t"/>
          <a:lstStyle/>
          <a:p>
            <a:pPr algn="l" indent="0" marL="0">
              <a:buNone/>
            </a:pPr>
            <a:r>
              <a:rPr lang="en-US" sz="2200" dirty="0">
                <a:solidFill>
                  <a:schemeClr val="accent6"/>
                </a:solidFill>
              </a:rPr>
              <a:t>We will not propose a build plan before we have seen your numbers.</a:t>
            </a:r>
            <a:endParaRPr lang="en-US" sz="2200" dirty="0"/>
          </a:p>
        </p:txBody>
      </p:sp>
      <p:sp>
        <p:nvSpPr>
          <p:cNvPr id="4" name="next step 1"/>
          <p:cNvSpPr/>
          <p:nvPr/>
        </p:nvSpPr>
        <p:spPr>
          <a:xfrm>
            <a:off x="640080" y="4160520"/>
            <a:ext cx="3291840" cy="1143000"/>
          </a:xfrm>
          <a:prstGeom prst="roundRect">
            <a:avLst>
              <a:gd name="adj" fmla="val 9600"/>
            </a:avLst>
          </a:prstGeom>
          <a:solidFill>
            <a:srgbClr val="13294A"/>
          </a:solidFill>
          <a:ln w="12700">
            <a:solidFill>
              <a:srgbClr val="2B4A75"/>
            </a:solidFill>
            <a:prstDash val="solid"/>
          </a:ln>
        </p:spPr>
      </p:sp>
      <p:sp>
        <p:nvSpPr>
          <p:cNvPr id="5" name="next num 1"/>
          <p:cNvSpPr/>
          <p:nvPr/>
        </p:nvSpPr>
        <p:spPr>
          <a:xfrm>
            <a:off x="914400" y="4507992"/>
            <a:ext cx="457200" cy="457200"/>
          </a:xfrm>
          <a:prstGeom prst="ellipse">
            <a:avLst/>
          </a:prstGeom>
          <a:solidFill>
            <a:srgbClr val="005DAA"/>
          </a:solidFill>
          <a:ln w="12700">
            <a:solidFill>
              <a:srgbClr val="005DAA"/>
            </a:solidFill>
            <a:prstDash val="solid"/>
          </a:ln>
        </p:spPr>
      </p:sp>
      <p:sp>
        <p:nvSpPr>
          <p:cNvPr id="6" name="next num 1 number"/>
          <p:cNvSpPr txBox="1"/>
          <p:nvPr/>
        </p:nvSpPr>
        <p:spPr>
          <a:xfrm>
            <a:off x="914400"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next text 1"/>
          <p:cNvSpPr txBox="1"/>
          <p:nvPr/>
        </p:nvSpPr>
        <p:spPr>
          <a:xfrm>
            <a:off x="1508760" y="4160520"/>
            <a:ext cx="2240280" cy="1143000"/>
          </a:xfrm>
          <a:prstGeom prst="rect">
            <a:avLst/>
          </a:prstGeom>
          <a:noFill/>
          <a:ln/>
        </p:spPr>
        <p:txBody>
          <a:bodyPr wrap="square" lIns="0" tIns="0" rIns="0" bIns="0" rtlCol="0" anchor="ctr"/>
          <a:lstStyle/>
          <a:p>
            <a:pPr indent="0" marL="0">
              <a:buNone/>
            </a:pPr>
            <a:r>
              <a:rPr lang="en-US" sz="1700" b="1" dirty="0">
                <a:solidFill>
                  <a:srgbClr val="FFFFFF"/>
                </a:solidFill>
              </a:rPr>
              <a:t>We finish this phase</a:t>
            </a:r>
            <a:endParaRPr lang="en-US" sz="1700" dirty="0"/>
          </a:p>
        </p:txBody>
      </p:sp>
      <p:sp>
        <p:nvSpPr>
          <p:cNvPr id="8" name="arrow 0"/>
          <p:cNvSpPr/>
          <p:nvPr/>
        </p:nvSpPr>
        <p:spPr>
          <a:xfrm>
            <a:off x="4069080" y="4572000"/>
            <a:ext cx="228600" cy="320040"/>
          </a:xfrm>
          <a:prstGeom prst="chevron">
            <a:avLst/>
          </a:prstGeom>
          <a:solidFill>
            <a:srgbClr val="9CC3EA"/>
          </a:solidFill>
          <a:ln w="12700">
            <a:solidFill>
              <a:srgbClr val="9CC3EA"/>
            </a:solidFill>
            <a:prstDash val="solid"/>
          </a:ln>
        </p:spPr>
      </p:sp>
      <p:sp>
        <p:nvSpPr>
          <p:cNvPr id="9" name="next step 2"/>
          <p:cNvSpPr/>
          <p:nvPr/>
        </p:nvSpPr>
        <p:spPr>
          <a:xfrm>
            <a:off x="4434840" y="4160520"/>
            <a:ext cx="3291840" cy="1143000"/>
          </a:xfrm>
          <a:prstGeom prst="roundRect">
            <a:avLst>
              <a:gd name="adj" fmla="val 9600"/>
            </a:avLst>
          </a:prstGeom>
          <a:solidFill>
            <a:srgbClr val="13294A"/>
          </a:solidFill>
          <a:ln w="12700">
            <a:solidFill>
              <a:srgbClr val="2B4A75"/>
            </a:solidFill>
            <a:prstDash val="solid"/>
          </a:ln>
        </p:spPr>
      </p:sp>
      <p:sp>
        <p:nvSpPr>
          <p:cNvPr id="10" name="next num 2"/>
          <p:cNvSpPr/>
          <p:nvPr/>
        </p:nvSpPr>
        <p:spPr>
          <a:xfrm>
            <a:off x="4709160" y="4507992"/>
            <a:ext cx="457200" cy="457200"/>
          </a:xfrm>
          <a:prstGeom prst="ellipse">
            <a:avLst/>
          </a:prstGeom>
          <a:solidFill>
            <a:srgbClr val="005DAA"/>
          </a:solidFill>
          <a:ln w="12700">
            <a:solidFill>
              <a:srgbClr val="005DAA"/>
            </a:solidFill>
            <a:prstDash val="solid"/>
          </a:ln>
        </p:spPr>
      </p:sp>
      <p:sp>
        <p:nvSpPr>
          <p:cNvPr id="11" name="next num 2 number"/>
          <p:cNvSpPr txBox="1"/>
          <p:nvPr/>
        </p:nvSpPr>
        <p:spPr>
          <a:xfrm>
            <a:off x="4709160"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next text 2"/>
          <p:cNvSpPr txBox="1"/>
          <p:nvPr/>
        </p:nvSpPr>
        <p:spPr>
          <a:xfrm>
            <a:off x="5303520" y="4160520"/>
            <a:ext cx="2240280" cy="1143000"/>
          </a:xfrm>
          <a:prstGeom prst="rect">
            <a:avLst/>
          </a:prstGeom>
          <a:noFill/>
          <a:ln/>
        </p:spPr>
        <p:txBody>
          <a:bodyPr wrap="square" lIns="0" tIns="0" rIns="0" bIns="0" rtlCol="0" anchor="ctr"/>
          <a:lstStyle/>
          <a:p>
            <a:pPr indent="0" marL="0">
              <a:buNone/>
            </a:pPr>
            <a:r>
              <a:rPr lang="en-US" sz="1700" b="1" dirty="0">
                <a:solidFill>
                  <a:srgbClr val="FFFFFF"/>
                </a:solidFill>
              </a:rPr>
              <a:t>You share floor and drill data</a:t>
            </a:r>
            <a:endParaRPr lang="en-US" sz="1700" dirty="0"/>
          </a:p>
        </p:txBody>
      </p:sp>
      <p:sp>
        <p:nvSpPr>
          <p:cNvPr id="13" name="arrow 1"/>
          <p:cNvSpPr/>
          <p:nvPr/>
        </p:nvSpPr>
        <p:spPr>
          <a:xfrm>
            <a:off x="7863840" y="4572000"/>
            <a:ext cx="228600" cy="320040"/>
          </a:xfrm>
          <a:prstGeom prst="chevron">
            <a:avLst/>
          </a:prstGeom>
          <a:solidFill>
            <a:srgbClr val="9CC3EA"/>
          </a:solidFill>
          <a:ln w="12700">
            <a:solidFill>
              <a:srgbClr val="9CC3EA"/>
            </a:solidFill>
            <a:prstDash val="solid"/>
          </a:ln>
        </p:spPr>
      </p:sp>
      <p:sp>
        <p:nvSpPr>
          <p:cNvPr id="14" name="next step 3"/>
          <p:cNvSpPr/>
          <p:nvPr/>
        </p:nvSpPr>
        <p:spPr>
          <a:xfrm>
            <a:off x="8229600" y="4160520"/>
            <a:ext cx="3291840" cy="1143000"/>
          </a:xfrm>
          <a:prstGeom prst="roundRect">
            <a:avLst>
              <a:gd name="adj" fmla="val 9600"/>
            </a:avLst>
          </a:prstGeom>
          <a:solidFill>
            <a:srgbClr val="13294A"/>
          </a:solidFill>
          <a:ln w="12700">
            <a:solidFill>
              <a:srgbClr val="2B4A75"/>
            </a:solidFill>
            <a:prstDash val="solid"/>
          </a:ln>
        </p:spPr>
      </p:sp>
      <p:sp>
        <p:nvSpPr>
          <p:cNvPr id="15" name="next num 3"/>
          <p:cNvSpPr/>
          <p:nvPr/>
        </p:nvSpPr>
        <p:spPr>
          <a:xfrm>
            <a:off x="8503920" y="4507992"/>
            <a:ext cx="457200" cy="457200"/>
          </a:xfrm>
          <a:prstGeom prst="ellipse">
            <a:avLst/>
          </a:prstGeom>
          <a:solidFill>
            <a:srgbClr val="D97706"/>
          </a:solidFill>
          <a:ln w="12700">
            <a:solidFill>
              <a:srgbClr val="D97706"/>
            </a:solidFill>
            <a:prstDash val="solid"/>
          </a:ln>
        </p:spPr>
      </p:sp>
      <p:sp>
        <p:nvSpPr>
          <p:cNvPr id="16" name="next num 3 number"/>
          <p:cNvSpPr txBox="1"/>
          <p:nvPr/>
        </p:nvSpPr>
        <p:spPr>
          <a:xfrm>
            <a:off x="8503920" y="45079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next text 3"/>
          <p:cNvSpPr txBox="1"/>
          <p:nvPr/>
        </p:nvSpPr>
        <p:spPr>
          <a:xfrm>
            <a:off x="9098280" y="4160520"/>
            <a:ext cx="2240280" cy="1143000"/>
          </a:xfrm>
          <a:prstGeom prst="rect">
            <a:avLst/>
          </a:prstGeom>
          <a:noFill/>
          <a:ln/>
        </p:spPr>
        <p:txBody>
          <a:bodyPr wrap="square" lIns="0" tIns="0" rIns="0" bIns="0" rtlCol="0" anchor="ctr"/>
          <a:lstStyle/>
          <a:p>
            <a:pPr indent="0" marL="0">
              <a:buNone/>
            </a:pPr>
            <a:r>
              <a:rPr lang="en-US" sz="1700" b="1" dirty="0">
                <a:solidFill>
                  <a:srgbClr val="FFFFFF"/>
                </a:solidFill>
              </a:rPr>
              <a:t>Together, we define what comes after</a:t>
            </a:r>
            <a:endParaRPr lang="en-US" sz="1700" dirty="0"/>
          </a:p>
        </p:txBody>
      </p:sp>
      <p:sp>
        <p:nvSpPr>
          <p:cNvPr id="18" name="goal"/>
          <p:cNvSpPr txBox="1"/>
          <p:nvPr/>
        </p:nvSpPr>
        <p:spPr>
          <a:xfrm>
            <a:off x="640080" y="5760720"/>
            <a:ext cx="10058400" cy="411480"/>
          </a:xfrm>
          <a:prstGeom prst="rect">
            <a:avLst/>
          </a:prstGeom>
          <a:noFill/>
          <a:ln/>
        </p:spPr>
        <p:txBody>
          <a:bodyPr wrap="square" lIns="0" tIns="0" rIns="0" bIns="0" rtlCol="0" anchor="ctr"/>
          <a:lstStyle/>
          <a:p>
            <a:pPr indent="0" marL="0">
              <a:buNone/>
            </a:pPr>
            <a:r>
              <a:rPr lang="en-US" sz="1600" i="1" dirty="0">
                <a:solidFill>
                  <a:srgbClr val="9CC3EA"/>
                </a:solidFill>
              </a:rPr>
              <a:t>Goal for today: agree on what "done" looks like on your floor.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200" b="1" dirty="0">
                <a:solidFill>
                  <a:schemeClr val="tx1"/>
                </a:solidFill>
              </a:rPr>
              <a:t>Five steps behind the timeline</a:t>
            </a:r>
            <a:endParaRPr lang="en-US" sz="3200" dirty="0"/>
          </a:p>
        </p:txBody>
      </p:sp>
      <p:sp>
        <p:nvSpPr>
          <p:cNvPr id="3" name="step card 01"/>
          <p:cNvSpPr/>
          <p:nvPr/>
        </p:nvSpPr>
        <p:spPr>
          <a:xfrm>
            <a:off x="548640" y="1463040"/>
            <a:ext cx="2048256" cy="2514600"/>
          </a:xfrm>
          <a:prstGeom prst="roundRect">
            <a:avLst>
              <a:gd name="adj" fmla="val 5357"/>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4" name="step 01 circle"/>
          <p:cNvSpPr/>
          <p:nvPr/>
        </p:nvSpPr>
        <p:spPr>
          <a:xfrm>
            <a:off x="777240" y="1691640"/>
            <a:ext cx="594360" cy="594360"/>
          </a:xfrm>
          <a:prstGeom prst="ellipse">
            <a:avLst/>
          </a:prstGeom>
          <a:solidFill>
            <a:srgbClr val="005DAA"/>
          </a:solidFill>
          <a:ln w="12700">
            <a:solidFill>
              <a:srgbClr val="005DAA"/>
            </a:solidFill>
            <a:prstDash val="solid"/>
          </a:ln>
        </p:spPr>
      </p:sp>
      <p:pic>
        <p:nvPicPr>
          <p:cNvPr id="5" name="step 01 icon" descr="preencoded.png">    </p:cNvPr>
          <p:cNvPicPr>
            <a:picLocks noChangeAspect="1"/>
          </p:cNvPicPr>
          <p:nvPr/>
        </p:nvPicPr>
        <p:blipFill>
          <a:blip r:embed="rId1"/>
          <a:stretch>
            <a:fillRect/>
          </a:stretch>
        </p:blipFill>
        <p:spPr>
          <a:xfrm>
            <a:off x="925830" y="1840230"/>
            <a:ext cx="297180" cy="297180"/>
          </a:xfrm>
          <a:prstGeom prst="rect">
            <a:avLst/>
          </a:prstGeom>
        </p:spPr>
      </p:pic>
      <p:sp>
        <p:nvSpPr>
          <p:cNvPr id="6" name="step num 01"/>
          <p:cNvSpPr txBox="1"/>
          <p:nvPr/>
        </p:nvSpPr>
        <p:spPr>
          <a:xfrm>
            <a:off x="1508760" y="1691640"/>
            <a:ext cx="914400" cy="594360"/>
          </a:xfrm>
          <a:prstGeom prst="rect">
            <a:avLst/>
          </a:prstGeom>
          <a:noFill/>
          <a:ln/>
        </p:spPr>
        <p:txBody>
          <a:bodyPr wrap="square" lIns="0" tIns="0" rIns="0" bIns="0" rtlCol="0" anchor="ctr"/>
          <a:lstStyle/>
          <a:p>
            <a:pPr indent="0" marL="0">
              <a:buNone/>
            </a:pPr>
            <a:r>
              <a:rPr lang="en-US" sz="2400" b="1" dirty="0">
                <a:solidFill>
                  <a:srgbClr val="005DAA"/>
                </a:solidFill>
                <a:latin typeface="Arial" pitchFamily="34" charset="0"/>
                <a:ea typeface="Arial" pitchFamily="34" charset="-122"/>
                <a:cs typeface="Arial" pitchFamily="34" charset="-120"/>
              </a:rPr>
              <a:t>01</a:t>
            </a:r>
            <a:endParaRPr lang="en-US" sz="2400" dirty="0"/>
          </a:p>
        </p:txBody>
      </p:sp>
      <p:sp>
        <p:nvSpPr>
          <p:cNvPr id="7" name="step head 01"/>
          <p:cNvSpPr txBox="1"/>
          <p:nvPr/>
        </p:nvSpPr>
        <p:spPr>
          <a:xfrm>
            <a:off x="777240" y="2423160"/>
            <a:ext cx="1591056" cy="411480"/>
          </a:xfrm>
          <a:prstGeom prst="rect">
            <a:avLst/>
          </a:prstGeom>
          <a:noFill/>
          <a:ln/>
        </p:spPr>
        <p:txBody>
          <a:bodyPr wrap="square" lIns="0" tIns="0" rIns="0" bIns="0" rtlCol="0" anchor="ctr"/>
          <a:lstStyle/>
          <a:p>
            <a:pPr indent="0" marL="0">
              <a:buNone/>
            </a:pPr>
            <a:r>
              <a:rPr lang="en-US" sz="1800" b="1" dirty="0">
                <a:solidFill>
                  <a:srgbClr val="0B192C"/>
                </a:solidFill>
              </a:rPr>
              <a:t>Scan</a:t>
            </a:r>
            <a:endParaRPr lang="en-US" sz="1800" dirty="0"/>
          </a:p>
        </p:txBody>
      </p:sp>
      <p:sp>
        <p:nvSpPr>
          <p:cNvPr id="8" name="step body 01"/>
          <p:cNvSpPr txBox="1"/>
          <p:nvPr/>
        </p:nvSpPr>
        <p:spPr>
          <a:xfrm>
            <a:off x="777240" y="2834640"/>
            <a:ext cx="1636776" cy="1051560"/>
          </a:xfrm>
          <a:prstGeom prst="rect">
            <a:avLst/>
          </a:prstGeom>
          <a:noFill/>
          <a:ln/>
        </p:spPr>
        <p:txBody>
          <a:bodyPr wrap="square" lIns="0" tIns="0" rIns="0" bIns="0" rtlCol="0" anchor="t"/>
          <a:lstStyle/>
          <a:p>
            <a:pPr indent="0" marL="0">
              <a:buNone/>
            </a:pPr>
            <a:r>
              <a:rPr lang="en-US" sz="1400" dirty="0">
                <a:solidFill>
                  <a:srgbClr val="0B192C"/>
                </a:solidFill>
              </a:rPr>
              <a:t>QR at the floor entrance. Badge ID or visitor pass.</a:t>
            </a:r>
            <a:endParaRPr lang="en-US" sz="1400" dirty="0"/>
          </a:p>
        </p:txBody>
      </p:sp>
      <p:sp>
        <p:nvSpPr>
          <p:cNvPr id="9" name="step card 02"/>
          <p:cNvSpPr/>
          <p:nvPr/>
        </p:nvSpPr>
        <p:spPr>
          <a:xfrm>
            <a:off x="2802636" y="1463040"/>
            <a:ext cx="2048256" cy="2514600"/>
          </a:xfrm>
          <a:prstGeom prst="roundRect">
            <a:avLst>
              <a:gd name="adj" fmla="val 5357"/>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10" name="step 02 circle"/>
          <p:cNvSpPr/>
          <p:nvPr/>
        </p:nvSpPr>
        <p:spPr>
          <a:xfrm>
            <a:off x="3031236" y="1691640"/>
            <a:ext cx="594360" cy="594360"/>
          </a:xfrm>
          <a:prstGeom prst="ellipse">
            <a:avLst/>
          </a:prstGeom>
          <a:solidFill>
            <a:srgbClr val="005DAA"/>
          </a:solidFill>
          <a:ln w="12700">
            <a:solidFill>
              <a:srgbClr val="005DAA"/>
            </a:solidFill>
            <a:prstDash val="solid"/>
          </a:ln>
        </p:spPr>
      </p:sp>
      <p:pic>
        <p:nvPicPr>
          <p:cNvPr id="11" name="step 02 icon" descr="preencoded.png">    </p:cNvPr>
          <p:cNvPicPr>
            <a:picLocks noChangeAspect="1"/>
          </p:cNvPicPr>
          <p:nvPr/>
        </p:nvPicPr>
        <p:blipFill>
          <a:blip r:embed="rId2"/>
          <a:stretch>
            <a:fillRect/>
          </a:stretch>
        </p:blipFill>
        <p:spPr>
          <a:xfrm>
            <a:off x="3179826" y="1840230"/>
            <a:ext cx="297180" cy="297180"/>
          </a:xfrm>
          <a:prstGeom prst="rect">
            <a:avLst/>
          </a:prstGeom>
        </p:spPr>
      </p:pic>
      <p:sp>
        <p:nvSpPr>
          <p:cNvPr id="12" name="step num 02"/>
          <p:cNvSpPr txBox="1"/>
          <p:nvPr/>
        </p:nvSpPr>
        <p:spPr>
          <a:xfrm>
            <a:off x="3762756" y="1691640"/>
            <a:ext cx="914400" cy="594360"/>
          </a:xfrm>
          <a:prstGeom prst="rect">
            <a:avLst/>
          </a:prstGeom>
          <a:noFill/>
          <a:ln/>
        </p:spPr>
        <p:txBody>
          <a:bodyPr wrap="square" lIns="0" tIns="0" rIns="0" bIns="0" rtlCol="0" anchor="ctr"/>
          <a:lstStyle/>
          <a:p>
            <a:pPr indent="0" marL="0">
              <a:buNone/>
            </a:pPr>
            <a:r>
              <a:rPr lang="en-US" sz="2400" b="1" dirty="0">
                <a:solidFill>
                  <a:srgbClr val="005DAA"/>
                </a:solidFill>
                <a:latin typeface="Arial" pitchFamily="34" charset="0"/>
                <a:ea typeface="Arial" pitchFamily="34" charset="-122"/>
                <a:cs typeface="Arial" pitchFamily="34" charset="-120"/>
              </a:rPr>
              <a:t>02</a:t>
            </a:r>
            <a:endParaRPr lang="en-US" sz="2400" dirty="0"/>
          </a:p>
        </p:txBody>
      </p:sp>
      <p:sp>
        <p:nvSpPr>
          <p:cNvPr id="13" name="step head 02"/>
          <p:cNvSpPr txBox="1"/>
          <p:nvPr/>
        </p:nvSpPr>
        <p:spPr>
          <a:xfrm>
            <a:off x="3031236" y="2423160"/>
            <a:ext cx="1591056" cy="411480"/>
          </a:xfrm>
          <a:prstGeom prst="rect">
            <a:avLst/>
          </a:prstGeom>
          <a:noFill/>
          <a:ln/>
        </p:spPr>
        <p:txBody>
          <a:bodyPr wrap="square" lIns="0" tIns="0" rIns="0" bIns="0" rtlCol="0" anchor="ctr"/>
          <a:lstStyle/>
          <a:p>
            <a:pPr indent="0" marL="0">
              <a:buNone/>
            </a:pPr>
            <a:r>
              <a:rPr lang="en-US" sz="1800" b="1" dirty="0">
                <a:solidFill>
                  <a:srgbClr val="0B192C"/>
                </a:solidFill>
              </a:rPr>
              <a:t>Signed in</a:t>
            </a:r>
            <a:endParaRPr lang="en-US" sz="1800" dirty="0"/>
          </a:p>
        </p:txBody>
      </p:sp>
      <p:sp>
        <p:nvSpPr>
          <p:cNvPr id="14" name="step body 02"/>
          <p:cNvSpPr txBox="1"/>
          <p:nvPr/>
        </p:nvSpPr>
        <p:spPr>
          <a:xfrm>
            <a:off x="3031236" y="2834640"/>
            <a:ext cx="1636776" cy="1051560"/>
          </a:xfrm>
          <a:prstGeom prst="rect">
            <a:avLst/>
          </a:prstGeom>
          <a:noFill/>
          <a:ln/>
        </p:spPr>
        <p:txBody>
          <a:bodyPr wrap="square" lIns="0" tIns="0" rIns="0" bIns="0" rtlCol="0" anchor="t"/>
          <a:lstStyle/>
          <a:p>
            <a:pPr indent="0" marL="0">
              <a:buNone/>
            </a:pPr>
            <a:r>
              <a:rPr lang="en-US" sz="1400" dirty="0">
                <a:solidFill>
                  <a:srgbClr val="0B192C"/>
                </a:solidFill>
              </a:rPr>
              <a:t>Everyone on the floor is a known, live roster entry.</a:t>
            </a:r>
            <a:endParaRPr lang="en-US" sz="1400" dirty="0"/>
          </a:p>
        </p:txBody>
      </p:sp>
      <p:sp>
        <p:nvSpPr>
          <p:cNvPr id="15" name="step card 03"/>
          <p:cNvSpPr/>
          <p:nvPr/>
        </p:nvSpPr>
        <p:spPr>
          <a:xfrm>
            <a:off x="5056632" y="1463040"/>
            <a:ext cx="2048256" cy="2514600"/>
          </a:xfrm>
          <a:prstGeom prst="roundRect">
            <a:avLst>
              <a:gd name="adj" fmla="val 5357"/>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16" name="step 03 circle"/>
          <p:cNvSpPr/>
          <p:nvPr/>
        </p:nvSpPr>
        <p:spPr>
          <a:xfrm>
            <a:off x="5285232" y="1691640"/>
            <a:ext cx="594360" cy="594360"/>
          </a:xfrm>
          <a:prstGeom prst="ellipse">
            <a:avLst/>
          </a:prstGeom>
          <a:solidFill>
            <a:srgbClr val="005DAA"/>
          </a:solidFill>
          <a:ln w="12700">
            <a:solidFill>
              <a:srgbClr val="005DAA"/>
            </a:solidFill>
            <a:prstDash val="solid"/>
          </a:ln>
        </p:spPr>
      </p:sp>
      <p:pic>
        <p:nvPicPr>
          <p:cNvPr id="17" name="step 03 icon" descr="preencoded.png">    </p:cNvPr>
          <p:cNvPicPr>
            <a:picLocks noChangeAspect="1"/>
          </p:cNvPicPr>
          <p:nvPr/>
        </p:nvPicPr>
        <p:blipFill>
          <a:blip r:embed="rId3"/>
          <a:stretch>
            <a:fillRect/>
          </a:stretch>
        </p:blipFill>
        <p:spPr>
          <a:xfrm>
            <a:off x="5433822" y="1840230"/>
            <a:ext cx="297180" cy="297180"/>
          </a:xfrm>
          <a:prstGeom prst="rect">
            <a:avLst/>
          </a:prstGeom>
        </p:spPr>
      </p:pic>
      <p:sp>
        <p:nvSpPr>
          <p:cNvPr id="18" name="step num 03"/>
          <p:cNvSpPr txBox="1"/>
          <p:nvPr/>
        </p:nvSpPr>
        <p:spPr>
          <a:xfrm>
            <a:off x="6016752" y="1691640"/>
            <a:ext cx="914400" cy="594360"/>
          </a:xfrm>
          <a:prstGeom prst="rect">
            <a:avLst/>
          </a:prstGeom>
          <a:noFill/>
          <a:ln/>
        </p:spPr>
        <p:txBody>
          <a:bodyPr wrap="square" lIns="0" tIns="0" rIns="0" bIns="0" rtlCol="0" anchor="ctr"/>
          <a:lstStyle/>
          <a:p>
            <a:pPr indent="0" marL="0">
              <a:buNone/>
            </a:pPr>
            <a:r>
              <a:rPr lang="en-US" sz="2400" b="1" dirty="0">
                <a:solidFill>
                  <a:srgbClr val="005DAA"/>
                </a:solidFill>
                <a:latin typeface="Arial" pitchFamily="34" charset="0"/>
                <a:ea typeface="Arial" pitchFamily="34" charset="-122"/>
                <a:cs typeface="Arial" pitchFamily="34" charset="-120"/>
              </a:rPr>
              <a:t>03</a:t>
            </a:r>
            <a:endParaRPr lang="en-US" sz="2400" dirty="0"/>
          </a:p>
        </p:txBody>
      </p:sp>
      <p:sp>
        <p:nvSpPr>
          <p:cNvPr id="19" name="step head 03"/>
          <p:cNvSpPr txBox="1"/>
          <p:nvPr/>
        </p:nvSpPr>
        <p:spPr>
          <a:xfrm>
            <a:off x="5285232" y="2423160"/>
            <a:ext cx="1591056" cy="411480"/>
          </a:xfrm>
          <a:prstGeom prst="rect">
            <a:avLst/>
          </a:prstGeom>
          <a:noFill/>
          <a:ln/>
        </p:spPr>
        <p:txBody>
          <a:bodyPr wrap="square" lIns="0" tIns="0" rIns="0" bIns="0" rtlCol="0" anchor="ctr"/>
          <a:lstStyle/>
          <a:p>
            <a:pPr indent="0" marL="0">
              <a:buNone/>
            </a:pPr>
            <a:r>
              <a:rPr lang="en-US" sz="1800" b="1" dirty="0">
                <a:solidFill>
                  <a:srgbClr val="0B192C"/>
                </a:solidFill>
              </a:rPr>
              <a:t>Alarm</a:t>
            </a:r>
            <a:endParaRPr lang="en-US" sz="1800" dirty="0"/>
          </a:p>
        </p:txBody>
      </p:sp>
      <p:sp>
        <p:nvSpPr>
          <p:cNvPr id="20" name="step body 03"/>
          <p:cNvSpPr txBox="1"/>
          <p:nvPr/>
        </p:nvSpPr>
        <p:spPr>
          <a:xfrm>
            <a:off x="5285232" y="2834640"/>
            <a:ext cx="1636776" cy="1051560"/>
          </a:xfrm>
          <a:prstGeom prst="rect">
            <a:avLst/>
          </a:prstGeom>
          <a:noFill/>
          <a:ln/>
        </p:spPr>
        <p:txBody>
          <a:bodyPr wrap="square" lIns="0" tIns="0" rIns="0" bIns="0" rtlCol="0" anchor="t"/>
          <a:lstStyle/>
          <a:p>
            <a:pPr indent="0" marL="0">
              <a:buNone/>
            </a:pPr>
            <a:r>
              <a:rPr lang="en-US" sz="1400" dirty="0">
                <a:solidFill>
                  <a:srgbClr val="0B192C"/>
                </a:solidFill>
              </a:rPr>
              <a:t>Staff lead declares drill or incident and sets the hazard.</a:t>
            </a:r>
            <a:endParaRPr lang="en-US" sz="1400" dirty="0"/>
          </a:p>
        </p:txBody>
      </p:sp>
      <p:sp>
        <p:nvSpPr>
          <p:cNvPr id="21" name="step card 04"/>
          <p:cNvSpPr/>
          <p:nvPr/>
        </p:nvSpPr>
        <p:spPr>
          <a:xfrm>
            <a:off x="7310628" y="1463040"/>
            <a:ext cx="2048256" cy="2514600"/>
          </a:xfrm>
          <a:prstGeom prst="roundRect">
            <a:avLst>
              <a:gd name="adj" fmla="val 5357"/>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22" name="step 04 circle"/>
          <p:cNvSpPr/>
          <p:nvPr/>
        </p:nvSpPr>
        <p:spPr>
          <a:xfrm>
            <a:off x="7539228" y="1691640"/>
            <a:ext cx="594360" cy="594360"/>
          </a:xfrm>
          <a:prstGeom prst="ellipse">
            <a:avLst/>
          </a:prstGeom>
          <a:solidFill>
            <a:srgbClr val="005DAA"/>
          </a:solidFill>
          <a:ln w="12700">
            <a:solidFill>
              <a:srgbClr val="005DAA"/>
            </a:solidFill>
            <a:prstDash val="solid"/>
          </a:ln>
        </p:spPr>
      </p:sp>
      <p:pic>
        <p:nvPicPr>
          <p:cNvPr id="23" name="step 04 icon" descr="preencoded.png">    </p:cNvPr>
          <p:cNvPicPr>
            <a:picLocks noChangeAspect="1"/>
          </p:cNvPicPr>
          <p:nvPr/>
        </p:nvPicPr>
        <p:blipFill>
          <a:blip r:embed="rId4"/>
          <a:stretch>
            <a:fillRect/>
          </a:stretch>
        </p:blipFill>
        <p:spPr>
          <a:xfrm>
            <a:off x="7687818" y="1840230"/>
            <a:ext cx="297180" cy="297180"/>
          </a:xfrm>
          <a:prstGeom prst="rect">
            <a:avLst/>
          </a:prstGeom>
        </p:spPr>
      </p:pic>
      <p:sp>
        <p:nvSpPr>
          <p:cNvPr id="24" name="step num 04"/>
          <p:cNvSpPr txBox="1"/>
          <p:nvPr/>
        </p:nvSpPr>
        <p:spPr>
          <a:xfrm>
            <a:off x="8270748" y="1691640"/>
            <a:ext cx="914400" cy="594360"/>
          </a:xfrm>
          <a:prstGeom prst="rect">
            <a:avLst/>
          </a:prstGeom>
          <a:noFill/>
          <a:ln/>
        </p:spPr>
        <p:txBody>
          <a:bodyPr wrap="square" lIns="0" tIns="0" rIns="0" bIns="0" rtlCol="0" anchor="ctr"/>
          <a:lstStyle/>
          <a:p>
            <a:pPr indent="0" marL="0">
              <a:buNone/>
            </a:pPr>
            <a:r>
              <a:rPr lang="en-US" sz="2400" b="1" dirty="0">
                <a:solidFill>
                  <a:srgbClr val="005DAA"/>
                </a:solidFill>
                <a:latin typeface="Arial" pitchFamily="34" charset="0"/>
                <a:ea typeface="Arial" pitchFamily="34" charset="-122"/>
                <a:cs typeface="Arial" pitchFamily="34" charset="-120"/>
              </a:rPr>
              <a:t>04</a:t>
            </a:r>
            <a:endParaRPr lang="en-US" sz="2400" dirty="0"/>
          </a:p>
        </p:txBody>
      </p:sp>
      <p:sp>
        <p:nvSpPr>
          <p:cNvPr id="25" name="step head 04"/>
          <p:cNvSpPr txBox="1"/>
          <p:nvPr/>
        </p:nvSpPr>
        <p:spPr>
          <a:xfrm>
            <a:off x="7539228" y="2423160"/>
            <a:ext cx="1591056" cy="411480"/>
          </a:xfrm>
          <a:prstGeom prst="rect">
            <a:avLst/>
          </a:prstGeom>
          <a:noFill/>
          <a:ln/>
        </p:spPr>
        <p:txBody>
          <a:bodyPr wrap="square" lIns="0" tIns="0" rIns="0" bIns="0" rtlCol="0" anchor="ctr"/>
          <a:lstStyle/>
          <a:p>
            <a:pPr indent="0" marL="0">
              <a:buNone/>
            </a:pPr>
            <a:r>
              <a:rPr lang="en-US" sz="1800" b="1" dirty="0">
                <a:solidFill>
                  <a:srgbClr val="0B192C"/>
                </a:solidFill>
              </a:rPr>
              <a:t>Broadcast</a:t>
            </a:r>
            <a:endParaRPr lang="en-US" sz="1800" dirty="0"/>
          </a:p>
        </p:txBody>
      </p:sp>
      <p:sp>
        <p:nvSpPr>
          <p:cNvPr id="26" name="step body 04"/>
          <p:cNvSpPr txBox="1"/>
          <p:nvPr/>
        </p:nvSpPr>
        <p:spPr>
          <a:xfrm>
            <a:off x="7539228" y="2834640"/>
            <a:ext cx="1636776" cy="1051560"/>
          </a:xfrm>
          <a:prstGeom prst="rect">
            <a:avLst/>
          </a:prstGeom>
          <a:noFill/>
          <a:ln/>
        </p:spPr>
        <p:txBody>
          <a:bodyPr wrap="square" lIns="0" tIns="0" rIns="0" bIns="0" rtlCol="0" anchor="t"/>
          <a:lstStyle/>
          <a:p>
            <a:pPr indent="0" marL="0">
              <a:buNone/>
            </a:pPr>
            <a:r>
              <a:rPr lang="en-US" sz="1400" dirty="0">
                <a:solidFill>
                  <a:srgbClr val="0B192C"/>
                </a:solidFill>
              </a:rPr>
              <a:t>Alert posted to every open phone, by zone or all zones.</a:t>
            </a:r>
            <a:endParaRPr lang="en-US" sz="1400" dirty="0"/>
          </a:p>
        </p:txBody>
      </p:sp>
      <p:sp>
        <p:nvSpPr>
          <p:cNvPr id="27" name="step card 05"/>
          <p:cNvSpPr/>
          <p:nvPr/>
        </p:nvSpPr>
        <p:spPr>
          <a:xfrm>
            <a:off x="9564624" y="1463040"/>
            <a:ext cx="2048256" cy="2514600"/>
          </a:xfrm>
          <a:prstGeom prst="roundRect">
            <a:avLst>
              <a:gd name="adj" fmla="val 5357"/>
            </a:avLst>
          </a:prstGeom>
          <a:solidFill>
            <a:srgbClr val="E8F5EF"/>
          </a:solidFill>
          <a:ln w="12700">
            <a:solidFill>
              <a:srgbClr val="E8F5EF"/>
            </a:solidFill>
            <a:prstDash val="solid"/>
          </a:ln>
          <a:effectLst>
            <a:outerShdw sx="100000" sy="100000" kx="0" ky="0" algn="bl" rotWithShape="0" blurRad="101600" dist="25400" dir="5400000">
              <a:srgbClr val="0B192C">
                <a:alpha val="14000"/>
              </a:srgbClr>
            </a:outerShdw>
          </a:effectLst>
        </p:spPr>
      </p:sp>
      <p:sp>
        <p:nvSpPr>
          <p:cNvPr id="28" name="step 05 circle"/>
          <p:cNvSpPr/>
          <p:nvPr/>
        </p:nvSpPr>
        <p:spPr>
          <a:xfrm>
            <a:off x="9793224" y="1691640"/>
            <a:ext cx="594360" cy="594360"/>
          </a:xfrm>
          <a:prstGeom prst="ellipse">
            <a:avLst/>
          </a:prstGeom>
          <a:solidFill>
            <a:srgbClr val="0F7B53"/>
          </a:solidFill>
          <a:ln w="12700">
            <a:solidFill>
              <a:srgbClr val="0F7B53"/>
            </a:solidFill>
            <a:prstDash val="solid"/>
          </a:ln>
        </p:spPr>
      </p:sp>
      <p:pic>
        <p:nvPicPr>
          <p:cNvPr id="29" name="step 05 icon" descr="preencoded.png">    </p:cNvPr>
          <p:cNvPicPr>
            <a:picLocks noChangeAspect="1"/>
          </p:cNvPicPr>
          <p:nvPr/>
        </p:nvPicPr>
        <p:blipFill>
          <a:blip r:embed="rId5"/>
          <a:stretch>
            <a:fillRect/>
          </a:stretch>
        </p:blipFill>
        <p:spPr>
          <a:xfrm>
            <a:off x="9941814" y="1840230"/>
            <a:ext cx="297180" cy="297180"/>
          </a:xfrm>
          <a:prstGeom prst="rect">
            <a:avLst/>
          </a:prstGeom>
        </p:spPr>
      </p:pic>
      <p:sp>
        <p:nvSpPr>
          <p:cNvPr id="30" name="step num 05"/>
          <p:cNvSpPr txBox="1"/>
          <p:nvPr/>
        </p:nvSpPr>
        <p:spPr>
          <a:xfrm>
            <a:off x="10524744" y="1691640"/>
            <a:ext cx="914400" cy="594360"/>
          </a:xfrm>
          <a:prstGeom prst="rect">
            <a:avLst/>
          </a:prstGeom>
          <a:noFill/>
          <a:ln/>
        </p:spPr>
        <p:txBody>
          <a:bodyPr wrap="square" lIns="0" tIns="0" rIns="0" bIns="0" rtlCol="0" anchor="ctr"/>
          <a:lstStyle/>
          <a:p>
            <a:pPr indent="0" marL="0">
              <a:buNone/>
            </a:pPr>
            <a:r>
              <a:rPr lang="en-US" sz="2400" b="1" dirty="0">
                <a:solidFill>
                  <a:srgbClr val="0F7B53"/>
                </a:solidFill>
                <a:latin typeface="Arial" pitchFamily="34" charset="0"/>
                <a:ea typeface="Arial" pitchFamily="34" charset="-122"/>
                <a:cs typeface="Arial" pitchFamily="34" charset="-120"/>
              </a:rPr>
              <a:t>05</a:t>
            </a:r>
            <a:endParaRPr lang="en-US" sz="2400" dirty="0"/>
          </a:p>
        </p:txBody>
      </p:sp>
      <p:sp>
        <p:nvSpPr>
          <p:cNvPr id="31" name="step head 05"/>
          <p:cNvSpPr txBox="1"/>
          <p:nvPr/>
        </p:nvSpPr>
        <p:spPr>
          <a:xfrm>
            <a:off x="9793224" y="2423160"/>
            <a:ext cx="1591056" cy="411480"/>
          </a:xfrm>
          <a:prstGeom prst="rect">
            <a:avLst/>
          </a:prstGeom>
          <a:noFill/>
          <a:ln/>
        </p:spPr>
        <p:txBody>
          <a:bodyPr wrap="square" lIns="0" tIns="0" rIns="0" bIns="0" rtlCol="0" anchor="ctr"/>
          <a:lstStyle/>
          <a:p>
            <a:pPr indent="0" marL="0">
              <a:buNone/>
            </a:pPr>
            <a:r>
              <a:rPr lang="en-US" sz="1800" b="1" dirty="0">
                <a:solidFill>
                  <a:srgbClr val="0B192C"/>
                </a:solidFill>
              </a:rPr>
              <a:t>All safe</a:t>
            </a:r>
            <a:endParaRPr lang="en-US" sz="1800" dirty="0"/>
          </a:p>
        </p:txBody>
      </p:sp>
      <p:sp>
        <p:nvSpPr>
          <p:cNvPr id="32" name="step body 05"/>
          <p:cNvSpPr txBox="1"/>
          <p:nvPr/>
        </p:nvSpPr>
        <p:spPr>
          <a:xfrm>
            <a:off x="9793224" y="2834640"/>
            <a:ext cx="1636776" cy="1051560"/>
          </a:xfrm>
          <a:prstGeom prst="rect">
            <a:avLst/>
          </a:prstGeom>
          <a:noFill/>
          <a:ln/>
        </p:spPr>
        <p:txBody>
          <a:bodyPr wrap="square" lIns="0" tIns="0" rIns="0" bIns="0" rtlCol="0" anchor="t"/>
          <a:lstStyle/>
          <a:p>
            <a:pPr indent="0" marL="0">
              <a:buNone/>
            </a:pPr>
            <a:r>
              <a:rPr lang="en-US" sz="1400" dirty="0">
                <a:solidFill>
                  <a:srgbClr val="0B192C"/>
                </a:solidFill>
              </a:rPr>
              <a:t>People self-report. Counts close. The log is sealed.</a:t>
            </a:r>
            <a:endParaRPr lang="en-US" sz="1400" dirty="0"/>
          </a:p>
        </p:txBody>
      </p:sp>
      <p:sp>
        <p:nvSpPr>
          <p:cNvPr id="33" name="commander five-step strip frame"/>
          <p:cNvSpPr/>
          <p:nvPr/>
        </p:nvSpPr>
        <p:spPr>
          <a:xfrm>
            <a:off x="3072384" y="4169664"/>
            <a:ext cx="3273552" cy="2073402"/>
          </a:xfrm>
          <a:prstGeom prst="rect">
            <a:avLst/>
          </a:prstGeom>
          <a:solidFill>
            <a:srgbClr val="CBD5E1"/>
          </a:solidFill>
          <a:ln w="12700">
            <a:solidFill>
              <a:srgbClr val="CBD5E1"/>
            </a:solidFill>
            <a:prstDash val="solid"/>
          </a:ln>
          <a:effectLst>
            <a:outerShdw sx="100000" sy="100000" kx="0" ky="0" algn="bl" rotWithShape="0" blurRad="101600" dist="25400" dir="5400000">
              <a:srgbClr val="0B192C">
                <a:alpha val="14000"/>
              </a:srgbClr>
            </a:outerShdw>
          </a:effectLst>
        </p:spPr>
      </p:sp>
      <p:pic>
        <p:nvPicPr>
          <p:cNvPr id="34" name="commander five-step strip" descr="/home/claude/deck/img/03-commander-step1.jpg">    </p:cNvPr>
          <p:cNvPicPr>
            <a:picLocks noChangeAspect="1"/>
          </p:cNvPicPr>
          <p:nvPr/>
        </p:nvPicPr>
        <p:blipFill>
          <a:blip r:embed="rId6"/>
          <a:stretch>
            <a:fillRect/>
          </a:stretch>
        </p:blipFill>
        <p:spPr>
          <a:xfrm>
            <a:off x="3108960" y="4206240"/>
            <a:ext cx="3200400" cy="2000250"/>
          </a:xfrm>
          <a:prstGeom prst="rect">
            <a:avLst/>
          </a:prstGeom>
        </p:spPr>
      </p:pic>
      <p:sp>
        <p:nvSpPr>
          <p:cNvPr id="35" name="steps caption"/>
          <p:cNvSpPr txBox="1"/>
          <p:nvPr/>
        </p:nvSpPr>
        <p:spPr>
          <a:xfrm>
            <a:off x="6583680" y="4434840"/>
            <a:ext cx="4937760" cy="1371600"/>
          </a:xfrm>
          <a:prstGeom prst="rect">
            <a:avLst/>
          </a:prstGeom>
          <a:noFill/>
          <a:ln/>
        </p:spPr>
        <p:txBody>
          <a:bodyPr wrap="square" lIns="0" tIns="0" rIns="0" bIns="0" rtlCol="0" anchor="ctr"/>
          <a:lstStyle/>
          <a:p>
            <a:pPr indent="0" marL="0">
              <a:buNone/>
            </a:pPr>
            <a:r>
              <a:rPr lang="en-US" sz="1600" dirty="0">
                <a:solidFill>
                  <a:srgbClr val="0B192C"/>
                </a:solidFill>
              </a:rPr>
              <a:t>The commander console walks the staff lead through the same five steps, in order.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200" b="1" dirty="0">
                <a:solidFill>
                  <a:schemeClr val="tx1"/>
                </a:solidFill>
              </a:rPr>
              <a:t>Who sees what</a:t>
            </a:r>
            <a:endParaRPr lang="en-US" sz="3200" dirty="0"/>
          </a:p>
        </p:txBody>
      </p:sp>
      <p:sp>
        <p:nvSpPr>
          <p:cNvPr id="3" name="sign-in screen frame"/>
          <p:cNvSpPr/>
          <p:nvPr/>
        </p:nvSpPr>
        <p:spPr>
          <a:xfrm>
            <a:off x="621792" y="1353312"/>
            <a:ext cx="2282963" cy="4791456"/>
          </a:xfrm>
          <a:prstGeom prst="roundRect">
            <a:avLst>
              <a:gd name="adj" fmla="val 6409"/>
            </a:avLst>
          </a:prstGeom>
          <a:solidFill>
            <a:srgbClr val="0B192C"/>
          </a:solidFill>
          <a:ln w="12700">
            <a:solidFill>
              <a:srgbClr val="0B192C"/>
            </a:solidFill>
            <a:prstDash val="solid"/>
          </a:ln>
          <a:effectLst>
            <a:outerShdw sx="100000" sy="100000" kx="0" ky="0" algn="bl" rotWithShape="0" blurRad="101600" dist="25400" dir="5400000">
              <a:srgbClr val="0B192C">
                <a:alpha val="14000"/>
              </a:srgbClr>
            </a:outerShdw>
          </a:effectLst>
        </p:spPr>
      </p:sp>
      <p:pic>
        <p:nvPicPr>
          <p:cNvPr id="4" name="sign-in screen" descr="/home/claude/deck/img/01-phone-signin.jpg">    </p:cNvPr>
          <p:cNvPicPr>
            <a:picLocks noChangeAspect="1"/>
          </p:cNvPicPr>
          <p:nvPr/>
        </p:nvPicPr>
        <p:blipFill>
          <a:blip r:embed="rId1"/>
          <a:stretch>
            <a:fillRect/>
          </a:stretch>
        </p:blipFill>
        <p:spPr>
          <a:xfrm>
            <a:off x="685800" y="1417320"/>
            <a:ext cx="2154947" cy="4663440"/>
          </a:xfrm>
          <a:prstGeom prst="rect">
            <a:avLst/>
          </a:prstGeom>
        </p:spPr>
      </p:pic>
      <p:sp>
        <p:nvSpPr>
          <p:cNvPr id="5" name="Fire Safety Director / commander circle"/>
          <p:cNvSpPr/>
          <p:nvPr/>
        </p:nvSpPr>
        <p:spPr>
          <a:xfrm>
            <a:off x="3291840" y="1463040"/>
            <a:ext cx="685800" cy="685800"/>
          </a:xfrm>
          <a:prstGeom prst="ellipse">
            <a:avLst/>
          </a:prstGeom>
          <a:solidFill>
            <a:srgbClr val="005DAA"/>
          </a:solidFill>
          <a:ln w="12700">
            <a:solidFill>
              <a:srgbClr val="005DAA"/>
            </a:solidFill>
            <a:prstDash val="solid"/>
          </a:ln>
        </p:spPr>
      </p:sp>
      <p:pic>
        <p:nvPicPr>
          <p:cNvPr id="6" name="Fire Safety Director / commander icon" descr="preencoded.png">    </p:cNvPr>
          <p:cNvPicPr>
            <a:picLocks noChangeAspect="1"/>
          </p:cNvPicPr>
          <p:nvPr/>
        </p:nvPicPr>
        <p:blipFill>
          <a:blip r:embed="rId2"/>
          <a:stretch>
            <a:fillRect/>
          </a:stretch>
        </p:blipFill>
        <p:spPr>
          <a:xfrm>
            <a:off x="3463290" y="1634490"/>
            <a:ext cx="342900" cy="342900"/>
          </a:xfrm>
          <a:prstGeom prst="rect">
            <a:avLst/>
          </a:prstGeom>
        </p:spPr>
      </p:pic>
      <p:sp>
        <p:nvSpPr>
          <p:cNvPr id="7" name="Fire Safety Director / commander heading"/>
          <p:cNvSpPr txBox="1"/>
          <p:nvPr/>
        </p:nvSpPr>
        <p:spPr>
          <a:xfrm>
            <a:off x="4206240" y="1426464"/>
            <a:ext cx="7406640" cy="384048"/>
          </a:xfrm>
          <a:prstGeom prst="rect">
            <a:avLst/>
          </a:prstGeom>
          <a:noFill/>
          <a:ln/>
        </p:spPr>
        <p:txBody>
          <a:bodyPr wrap="square" lIns="0" tIns="0" rIns="0" bIns="0" rtlCol="0" anchor="ctr"/>
          <a:lstStyle/>
          <a:p>
            <a:pPr indent="0" marL="0">
              <a:buNone/>
            </a:pPr>
            <a:r>
              <a:rPr lang="en-US" sz="1800" b="1" dirty="0">
                <a:solidFill>
                  <a:srgbClr val="0B192C"/>
                </a:solidFill>
              </a:rPr>
              <a:t>Fire Safety Director / commander</a:t>
            </a:r>
            <a:endParaRPr lang="en-US" sz="1800" dirty="0"/>
          </a:p>
        </p:txBody>
      </p:sp>
      <p:sp>
        <p:nvSpPr>
          <p:cNvPr id="8" name="Fire Safety Director / commander text"/>
          <p:cNvSpPr txBox="1"/>
          <p:nvPr/>
        </p:nvSpPr>
        <p:spPr>
          <a:xfrm>
            <a:off x="4206240" y="1810512"/>
            <a:ext cx="7406640" cy="457200"/>
          </a:xfrm>
          <a:prstGeom prst="rect">
            <a:avLst/>
          </a:prstGeom>
          <a:noFill/>
          <a:ln/>
        </p:spPr>
        <p:txBody>
          <a:bodyPr wrap="square" lIns="0" tIns="0" rIns="0" bIns="0" rtlCol="0" anchor="t"/>
          <a:lstStyle/>
          <a:p>
            <a:pPr indent="0" marL="0">
              <a:buNone/>
            </a:pPr>
            <a:r>
              <a:rPr lang="en-US" sz="1500" dirty="0">
                <a:solidFill>
                  <a:srgbClr val="64748B"/>
                </a:solidFill>
              </a:rPr>
              <a:t>The full floor. Declares, broadcasts, and seals the record. PIN protected.</a:t>
            </a:r>
            <a:endParaRPr lang="en-US" sz="1500" dirty="0"/>
          </a:p>
        </p:txBody>
      </p:sp>
      <p:sp>
        <p:nvSpPr>
          <p:cNvPr id="9" name="Staff lead / floor warden circle"/>
          <p:cNvSpPr/>
          <p:nvPr/>
        </p:nvSpPr>
        <p:spPr>
          <a:xfrm>
            <a:off x="3291840" y="2542032"/>
            <a:ext cx="685800" cy="685800"/>
          </a:xfrm>
          <a:prstGeom prst="ellipse">
            <a:avLst/>
          </a:prstGeom>
          <a:solidFill>
            <a:srgbClr val="005DAA"/>
          </a:solidFill>
          <a:ln w="12700">
            <a:solidFill>
              <a:srgbClr val="005DAA"/>
            </a:solidFill>
            <a:prstDash val="solid"/>
          </a:ln>
        </p:spPr>
      </p:sp>
      <p:pic>
        <p:nvPicPr>
          <p:cNvPr id="10" name="Staff lead / floor warden icon" descr="preencoded.png">    </p:cNvPr>
          <p:cNvPicPr>
            <a:picLocks noChangeAspect="1"/>
          </p:cNvPicPr>
          <p:nvPr/>
        </p:nvPicPr>
        <p:blipFill>
          <a:blip r:embed="rId3"/>
          <a:stretch>
            <a:fillRect/>
          </a:stretch>
        </p:blipFill>
        <p:spPr>
          <a:xfrm>
            <a:off x="3463290" y="2713482"/>
            <a:ext cx="342900" cy="342900"/>
          </a:xfrm>
          <a:prstGeom prst="rect">
            <a:avLst/>
          </a:prstGeom>
        </p:spPr>
      </p:pic>
      <p:sp>
        <p:nvSpPr>
          <p:cNvPr id="11" name="Staff lead / floor warden heading"/>
          <p:cNvSpPr txBox="1"/>
          <p:nvPr/>
        </p:nvSpPr>
        <p:spPr>
          <a:xfrm>
            <a:off x="4206240" y="2505456"/>
            <a:ext cx="7406640" cy="384048"/>
          </a:xfrm>
          <a:prstGeom prst="rect">
            <a:avLst/>
          </a:prstGeom>
          <a:noFill/>
          <a:ln/>
        </p:spPr>
        <p:txBody>
          <a:bodyPr wrap="square" lIns="0" tIns="0" rIns="0" bIns="0" rtlCol="0" anchor="ctr"/>
          <a:lstStyle/>
          <a:p>
            <a:pPr indent="0" marL="0">
              <a:buNone/>
            </a:pPr>
            <a:r>
              <a:rPr lang="en-US" sz="1800" b="1" dirty="0">
                <a:solidFill>
                  <a:srgbClr val="0B192C"/>
                </a:solidFill>
              </a:rPr>
              <a:t>Staff lead / floor warden</a:t>
            </a:r>
            <a:endParaRPr lang="en-US" sz="1800" dirty="0"/>
          </a:p>
        </p:txBody>
      </p:sp>
      <p:sp>
        <p:nvSpPr>
          <p:cNvPr id="12" name="Staff lead / floor warden text"/>
          <p:cNvSpPr txBox="1"/>
          <p:nvPr/>
        </p:nvSpPr>
        <p:spPr>
          <a:xfrm>
            <a:off x="4206240" y="2889504"/>
            <a:ext cx="7406640" cy="457200"/>
          </a:xfrm>
          <a:prstGeom prst="rect">
            <a:avLst/>
          </a:prstGeom>
          <a:noFill/>
          <a:ln/>
        </p:spPr>
        <p:txBody>
          <a:bodyPr wrap="square" lIns="0" tIns="0" rIns="0" bIns="0" rtlCol="0" anchor="t"/>
          <a:lstStyle/>
          <a:p>
            <a:pPr indent="0" marL="0">
              <a:buNone/>
            </a:pPr>
            <a:r>
              <a:rPr lang="en-US" sz="1500" dirty="0">
                <a:solidFill>
                  <a:srgbClr val="64748B"/>
                </a:solidFill>
              </a:rPr>
              <a:t>Their quadrant. Sweeps, notes, and the walkie-talkie. PIN protected.</a:t>
            </a:r>
            <a:endParaRPr lang="en-US" sz="1500" dirty="0"/>
          </a:p>
        </p:txBody>
      </p:sp>
      <p:sp>
        <p:nvSpPr>
          <p:cNvPr id="13" name="Auditor circle"/>
          <p:cNvSpPr/>
          <p:nvPr/>
        </p:nvSpPr>
        <p:spPr>
          <a:xfrm>
            <a:off x="3291840" y="3621024"/>
            <a:ext cx="685800" cy="685800"/>
          </a:xfrm>
          <a:prstGeom prst="ellipse">
            <a:avLst/>
          </a:prstGeom>
          <a:solidFill>
            <a:srgbClr val="005DAA"/>
          </a:solidFill>
          <a:ln w="12700">
            <a:solidFill>
              <a:srgbClr val="005DAA"/>
            </a:solidFill>
            <a:prstDash val="solid"/>
          </a:ln>
        </p:spPr>
      </p:sp>
      <p:pic>
        <p:nvPicPr>
          <p:cNvPr id="14" name="Auditor icon" descr="preencoded.png">    </p:cNvPr>
          <p:cNvPicPr>
            <a:picLocks noChangeAspect="1"/>
          </p:cNvPicPr>
          <p:nvPr/>
        </p:nvPicPr>
        <p:blipFill>
          <a:blip r:embed="rId4"/>
          <a:stretch>
            <a:fillRect/>
          </a:stretch>
        </p:blipFill>
        <p:spPr>
          <a:xfrm>
            <a:off x="3463290" y="3792474"/>
            <a:ext cx="342900" cy="342900"/>
          </a:xfrm>
          <a:prstGeom prst="rect">
            <a:avLst/>
          </a:prstGeom>
        </p:spPr>
      </p:pic>
      <p:sp>
        <p:nvSpPr>
          <p:cNvPr id="15" name="Auditor heading"/>
          <p:cNvSpPr txBox="1"/>
          <p:nvPr/>
        </p:nvSpPr>
        <p:spPr>
          <a:xfrm>
            <a:off x="4206240" y="3584448"/>
            <a:ext cx="7406640" cy="384048"/>
          </a:xfrm>
          <a:prstGeom prst="rect">
            <a:avLst/>
          </a:prstGeom>
          <a:noFill/>
          <a:ln/>
        </p:spPr>
        <p:txBody>
          <a:bodyPr wrap="square" lIns="0" tIns="0" rIns="0" bIns="0" rtlCol="0" anchor="ctr"/>
          <a:lstStyle/>
          <a:p>
            <a:pPr indent="0" marL="0">
              <a:buNone/>
            </a:pPr>
            <a:r>
              <a:rPr lang="en-US" sz="1800" b="1" dirty="0">
                <a:solidFill>
                  <a:srgbClr val="0B192C"/>
                </a:solidFill>
              </a:rPr>
              <a:t>Auditor</a:t>
            </a:r>
            <a:endParaRPr lang="en-US" sz="1800" dirty="0"/>
          </a:p>
        </p:txBody>
      </p:sp>
      <p:sp>
        <p:nvSpPr>
          <p:cNvPr id="16" name="Auditor text"/>
          <p:cNvSpPr txBox="1"/>
          <p:nvPr/>
        </p:nvSpPr>
        <p:spPr>
          <a:xfrm>
            <a:off x="4206240" y="3968496"/>
            <a:ext cx="7406640" cy="457200"/>
          </a:xfrm>
          <a:prstGeom prst="rect">
            <a:avLst/>
          </a:prstGeom>
          <a:noFill/>
          <a:ln/>
        </p:spPr>
        <p:txBody>
          <a:bodyPr wrap="square" lIns="0" tIns="0" rIns="0" bIns="0" rtlCol="0" anchor="t"/>
          <a:lstStyle/>
          <a:p>
            <a:pPr indent="0" marL="0">
              <a:buNone/>
            </a:pPr>
            <a:r>
              <a:rPr lang="en-US" sz="1500" dirty="0">
                <a:solidFill>
                  <a:srgbClr val="64748B"/>
                </a:solidFill>
              </a:rPr>
              <a:t>The full floor and the drill record, read-only.</a:t>
            </a:r>
            <a:endParaRPr lang="en-US" sz="1500" dirty="0"/>
          </a:p>
        </p:txBody>
      </p:sp>
      <p:sp>
        <p:nvSpPr>
          <p:cNvPr id="17" name="Employee, contractor, visitor circle"/>
          <p:cNvSpPr/>
          <p:nvPr/>
        </p:nvSpPr>
        <p:spPr>
          <a:xfrm>
            <a:off x="3291840" y="4700016"/>
            <a:ext cx="685800" cy="685800"/>
          </a:xfrm>
          <a:prstGeom prst="ellipse">
            <a:avLst/>
          </a:prstGeom>
          <a:solidFill>
            <a:srgbClr val="D97706"/>
          </a:solidFill>
          <a:ln w="12700">
            <a:solidFill>
              <a:srgbClr val="D97706"/>
            </a:solidFill>
            <a:prstDash val="solid"/>
          </a:ln>
        </p:spPr>
      </p:sp>
      <p:pic>
        <p:nvPicPr>
          <p:cNvPr id="18" name="Employee, contractor, visitor icon" descr="preencoded.png">    </p:cNvPr>
          <p:cNvPicPr>
            <a:picLocks noChangeAspect="1"/>
          </p:cNvPicPr>
          <p:nvPr/>
        </p:nvPicPr>
        <p:blipFill>
          <a:blip r:embed="rId5"/>
          <a:stretch>
            <a:fillRect/>
          </a:stretch>
        </p:blipFill>
        <p:spPr>
          <a:xfrm>
            <a:off x="3463290" y="4871466"/>
            <a:ext cx="342900" cy="342900"/>
          </a:xfrm>
          <a:prstGeom prst="rect">
            <a:avLst/>
          </a:prstGeom>
        </p:spPr>
      </p:pic>
      <p:sp>
        <p:nvSpPr>
          <p:cNvPr id="19" name="Employee, contractor, visitor heading"/>
          <p:cNvSpPr txBox="1"/>
          <p:nvPr/>
        </p:nvSpPr>
        <p:spPr>
          <a:xfrm>
            <a:off x="4206240" y="4663440"/>
            <a:ext cx="7406640" cy="384048"/>
          </a:xfrm>
          <a:prstGeom prst="rect">
            <a:avLst/>
          </a:prstGeom>
          <a:noFill/>
          <a:ln/>
        </p:spPr>
        <p:txBody>
          <a:bodyPr wrap="square" lIns="0" tIns="0" rIns="0" bIns="0" rtlCol="0" anchor="ctr"/>
          <a:lstStyle/>
          <a:p>
            <a:pPr indent="0" marL="0">
              <a:buNone/>
            </a:pPr>
            <a:r>
              <a:rPr lang="en-US" sz="1800" b="1" dirty="0">
                <a:solidFill>
                  <a:srgbClr val="0B192C"/>
                </a:solidFill>
              </a:rPr>
              <a:t>Employee, contractor, visitor</a:t>
            </a:r>
            <a:endParaRPr lang="en-US" sz="1800" dirty="0"/>
          </a:p>
        </p:txBody>
      </p:sp>
      <p:sp>
        <p:nvSpPr>
          <p:cNvPr id="20" name="Employee, contractor, visitor text"/>
          <p:cNvSpPr txBox="1"/>
          <p:nvPr/>
        </p:nvSpPr>
        <p:spPr>
          <a:xfrm>
            <a:off x="4206240" y="5047488"/>
            <a:ext cx="7406640" cy="457200"/>
          </a:xfrm>
          <a:prstGeom prst="rect">
            <a:avLst/>
          </a:prstGeom>
          <a:noFill/>
          <a:ln/>
        </p:spPr>
        <p:txBody>
          <a:bodyPr wrap="square" lIns="0" tIns="0" rIns="0" bIns="0" rtlCol="0" anchor="t"/>
          <a:lstStyle/>
          <a:p>
            <a:pPr indent="0" marL="0">
              <a:buNone/>
            </a:pPr>
            <a:r>
              <a:rPr lang="en-US" sz="1500" dirty="0">
                <a:solidFill>
                  <a:srgbClr val="64748B"/>
                </a:solidFill>
              </a:rPr>
              <a:t>Their own pass and two buttons: "I am safe" and "I need help."</a:t>
            </a:r>
            <a:endParaRPr lang="en-US" sz="1500" dirty="0"/>
          </a:p>
        </p:txBody>
      </p:sp>
      <p:sp>
        <p:nvSpPr>
          <p:cNvPr id="21" name="privacy note"/>
          <p:cNvSpPr txBox="1"/>
          <p:nvPr/>
        </p:nvSpPr>
        <p:spPr>
          <a:xfrm>
            <a:off x="3291840" y="5806440"/>
            <a:ext cx="8321040" cy="457200"/>
          </a:xfrm>
          <a:prstGeom prst="rect">
            <a:avLst/>
          </a:prstGeom>
          <a:noFill/>
          <a:ln/>
        </p:spPr>
        <p:txBody>
          <a:bodyPr wrap="square" lIns="0" tIns="0" rIns="0" bIns="0" rtlCol="0" anchor="ctr"/>
          <a:lstStyle/>
          <a:p>
            <a:pPr indent="0" marL="0">
              <a:buNone/>
            </a:pPr>
            <a:r>
              <a:rPr lang="en-US" sz="1300" i="1" dirty="0">
                <a:solidFill>
                  <a:srgbClr val="64748B"/>
                </a:solidFill>
              </a:rPr>
              <a:t>Privacy rules for visitors and contractors are not finished; we want HR and security in that conversation before a pilot.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200" b="1" dirty="0">
                <a:solidFill>
                  <a:schemeClr val="tx1"/>
                </a:solidFill>
              </a:rPr>
              <a:t>Four design rules</a:t>
            </a:r>
            <a:endParaRPr lang="en-US" sz="3200" dirty="0"/>
          </a:p>
        </p:txBody>
      </p:sp>
      <p:sp>
        <p:nvSpPr>
          <p:cNvPr id="3" name="rule 1"/>
          <p:cNvSpPr/>
          <p:nvPr/>
        </p:nvSpPr>
        <p:spPr>
          <a:xfrm>
            <a:off x="548640" y="1463040"/>
            <a:ext cx="5394960" cy="1965960"/>
          </a:xfrm>
          <a:prstGeom prst="roundRect">
            <a:avLst>
              <a:gd name="adj" fmla="val 5581"/>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4" name="rule 1 circle"/>
          <p:cNvSpPr/>
          <p:nvPr/>
        </p:nvSpPr>
        <p:spPr>
          <a:xfrm>
            <a:off x="868680" y="1783080"/>
            <a:ext cx="731520" cy="731520"/>
          </a:xfrm>
          <a:prstGeom prst="ellipse">
            <a:avLst/>
          </a:prstGeom>
          <a:solidFill>
            <a:srgbClr val="005DAA"/>
          </a:solidFill>
          <a:ln w="12700">
            <a:solidFill>
              <a:srgbClr val="005DAA"/>
            </a:solidFill>
            <a:prstDash val="solid"/>
          </a:ln>
        </p:spPr>
      </p:sp>
      <p:pic>
        <p:nvPicPr>
          <p:cNvPr id="5" name="rule 1 icon"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6" name="rule head 1"/>
          <p:cNvSpPr txBox="1"/>
          <p:nvPr/>
        </p:nvSpPr>
        <p:spPr>
          <a:xfrm>
            <a:off x="1828800" y="1783080"/>
            <a:ext cx="3840480" cy="731520"/>
          </a:xfrm>
          <a:prstGeom prst="rect">
            <a:avLst/>
          </a:prstGeom>
          <a:noFill/>
          <a:ln/>
        </p:spPr>
        <p:txBody>
          <a:bodyPr wrap="square" lIns="0" tIns="0" rIns="0" bIns="0" rtlCol="0" anchor="ctr"/>
          <a:lstStyle/>
          <a:p>
            <a:pPr indent="0" marL="0">
              <a:buNone/>
            </a:pPr>
            <a:r>
              <a:rPr lang="en-US" sz="1900" b="1" dirty="0">
                <a:solidFill>
                  <a:srgbClr val="0B192C"/>
                </a:solidFill>
              </a:rPr>
              <a:t>One screen, two buttons, no training</a:t>
            </a:r>
            <a:endParaRPr lang="en-US" sz="1900" dirty="0"/>
          </a:p>
        </p:txBody>
      </p:sp>
      <p:sp>
        <p:nvSpPr>
          <p:cNvPr id="7" name="rule body 1"/>
          <p:cNvSpPr txBox="1"/>
          <p:nvPr/>
        </p:nvSpPr>
        <p:spPr>
          <a:xfrm>
            <a:off x="1828800" y="2560320"/>
            <a:ext cx="3840480" cy="731520"/>
          </a:xfrm>
          <a:prstGeom prst="rect">
            <a:avLst/>
          </a:prstGeom>
          <a:noFill/>
          <a:ln/>
        </p:spPr>
        <p:txBody>
          <a:bodyPr wrap="square" lIns="0" tIns="0" rIns="0" bIns="0" rtlCol="0" anchor="t"/>
          <a:lstStyle/>
          <a:p>
            <a:pPr indent="0" marL="0">
              <a:buNone/>
            </a:pPr>
            <a:r>
              <a:rPr lang="en-US" sz="1500" dirty="0">
                <a:solidFill>
                  <a:srgbClr val="0B192C"/>
                </a:solidFill>
              </a:rPr>
              <a:t>The person in the stairwell has no time to learn a tool.</a:t>
            </a:r>
            <a:endParaRPr lang="en-US" sz="1500" dirty="0"/>
          </a:p>
        </p:txBody>
      </p:sp>
      <p:sp>
        <p:nvSpPr>
          <p:cNvPr id="8" name="rule 2"/>
          <p:cNvSpPr/>
          <p:nvPr/>
        </p:nvSpPr>
        <p:spPr>
          <a:xfrm>
            <a:off x="6217920" y="1463040"/>
            <a:ext cx="5394960" cy="1965960"/>
          </a:xfrm>
          <a:prstGeom prst="roundRect">
            <a:avLst>
              <a:gd name="adj" fmla="val 5581"/>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9" name="rule 2 circle"/>
          <p:cNvSpPr/>
          <p:nvPr/>
        </p:nvSpPr>
        <p:spPr>
          <a:xfrm>
            <a:off x="6537960" y="1783080"/>
            <a:ext cx="731520" cy="731520"/>
          </a:xfrm>
          <a:prstGeom prst="ellipse">
            <a:avLst/>
          </a:prstGeom>
          <a:solidFill>
            <a:srgbClr val="005DAA"/>
          </a:solidFill>
          <a:ln w="12700">
            <a:solidFill>
              <a:srgbClr val="005DAA"/>
            </a:solidFill>
            <a:prstDash val="solid"/>
          </a:ln>
        </p:spPr>
      </p:sp>
      <p:pic>
        <p:nvPicPr>
          <p:cNvPr id="10" name="rule 2 icon" descr="preencoded.png">    </p:cNvPr>
          <p:cNvPicPr>
            <a:picLocks noChangeAspect="1"/>
          </p:cNvPicPr>
          <p:nvPr/>
        </p:nvPicPr>
        <p:blipFill>
          <a:blip r:embed="rId2"/>
          <a:stretch>
            <a:fillRect/>
          </a:stretch>
        </p:blipFill>
        <p:spPr>
          <a:xfrm>
            <a:off x="6720840" y="1965960"/>
            <a:ext cx="365760" cy="365760"/>
          </a:xfrm>
          <a:prstGeom prst="rect">
            <a:avLst/>
          </a:prstGeom>
        </p:spPr>
      </p:pic>
      <p:sp>
        <p:nvSpPr>
          <p:cNvPr id="11" name="rule head 2"/>
          <p:cNvSpPr txBox="1"/>
          <p:nvPr/>
        </p:nvSpPr>
        <p:spPr>
          <a:xfrm>
            <a:off x="7498080" y="1783080"/>
            <a:ext cx="3840480" cy="731520"/>
          </a:xfrm>
          <a:prstGeom prst="rect">
            <a:avLst/>
          </a:prstGeom>
          <a:noFill/>
          <a:ln/>
        </p:spPr>
        <p:txBody>
          <a:bodyPr wrap="square" lIns="0" tIns="0" rIns="0" bIns="0" rtlCol="0" anchor="ctr"/>
          <a:lstStyle/>
          <a:p>
            <a:pPr indent="0" marL="0">
              <a:buNone/>
            </a:pPr>
            <a:r>
              <a:rPr lang="en-US" sz="1900" b="1" dirty="0">
                <a:solidFill>
                  <a:srgbClr val="0B192C"/>
                </a:solidFill>
              </a:rPr>
              <a:t>Silence is never read as safety</a:t>
            </a:r>
            <a:endParaRPr lang="en-US" sz="1900" dirty="0"/>
          </a:p>
        </p:txBody>
      </p:sp>
      <p:sp>
        <p:nvSpPr>
          <p:cNvPr id="12" name="rule body 2"/>
          <p:cNvSpPr txBox="1"/>
          <p:nvPr/>
        </p:nvSpPr>
        <p:spPr>
          <a:xfrm>
            <a:off x="7498080" y="2560320"/>
            <a:ext cx="3840480" cy="731520"/>
          </a:xfrm>
          <a:prstGeom prst="rect">
            <a:avLst/>
          </a:prstGeom>
          <a:noFill/>
          <a:ln/>
        </p:spPr>
        <p:txBody>
          <a:bodyPr wrap="square" lIns="0" tIns="0" rIns="0" bIns="0" rtlCol="0" anchor="t"/>
          <a:lstStyle/>
          <a:p>
            <a:pPr indent="0" marL="0">
              <a:buNone/>
            </a:pPr>
            <a:r>
              <a:rPr lang="en-US" sz="1500" dirty="0">
                <a:solidFill>
                  <a:srgbClr val="0B192C"/>
                </a:solidFill>
              </a:rPr>
              <a:t>During an alarm, nobody counts as safe until they say so or a warden confirms.</a:t>
            </a:r>
            <a:endParaRPr lang="en-US" sz="1500" dirty="0"/>
          </a:p>
        </p:txBody>
      </p:sp>
      <p:sp>
        <p:nvSpPr>
          <p:cNvPr id="13" name="rule 3"/>
          <p:cNvSpPr/>
          <p:nvPr/>
        </p:nvSpPr>
        <p:spPr>
          <a:xfrm>
            <a:off x="548640" y="3703320"/>
            <a:ext cx="5394960" cy="1965960"/>
          </a:xfrm>
          <a:prstGeom prst="roundRect">
            <a:avLst>
              <a:gd name="adj" fmla="val 5581"/>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14" name="rule 3 circle"/>
          <p:cNvSpPr/>
          <p:nvPr/>
        </p:nvSpPr>
        <p:spPr>
          <a:xfrm>
            <a:off x="868680" y="4023360"/>
            <a:ext cx="731520" cy="731520"/>
          </a:xfrm>
          <a:prstGeom prst="ellipse">
            <a:avLst/>
          </a:prstGeom>
          <a:solidFill>
            <a:srgbClr val="005DAA"/>
          </a:solidFill>
          <a:ln w="12700">
            <a:solidFill>
              <a:srgbClr val="005DAA"/>
            </a:solidFill>
            <a:prstDash val="solid"/>
          </a:ln>
        </p:spPr>
      </p:sp>
      <p:pic>
        <p:nvPicPr>
          <p:cNvPr id="15" name="rule 3 icon" descr="preencoded.png">    </p:cNvPr>
          <p:cNvPicPr>
            <a:picLocks noChangeAspect="1"/>
          </p:cNvPicPr>
          <p:nvPr/>
        </p:nvPicPr>
        <p:blipFill>
          <a:blip r:embed="rId3"/>
          <a:stretch>
            <a:fillRect/>
          </a:stretch>
        </p:blipFill>
        <p:spPr>
          <a:xfrm>
            <a:off x="1051560" y="4206240"/>
            <a:ext cx="365760" cy="365760"/>
          </a:xfrm>
          <a:prstGeom prst="rect">
            <a:avLst/>
          </a:prstGeom>
        </p:spPr>
      </p:pic>
      <p:sp>
        <p:nvSpPr>
          <p:cNvPr id="16" name="rule head 3"/>
          <p:cNvSpPr txBox="1"/>
          <p:nvPr/>
        </p:nvSpPr>
        <p:spPr>
          <a:xfrm>
            <a:off x="1828800" y="4023360"/>
            <a:ext cx="3840480" cy="731520"/>
          </a:xfrm>
          <a:prstGeom prst="rect">
            <a:avLst/>
          </a:prstGeom>
          <a:noFill/>
          <a:ln/>
        </p:spPr>
        <p:txBody>
          <a:bodyPr wrap="square" lIns="0" tIns="0" rIns="0" bIns="0" rtlCol="0" anchor="ctr"/>
          <a:lstStyle/>
          <a:p>
            <a:pPr indent="0" marL="0">
              <a:buNone/>
            </a:pPr>
            <a:r>
              <a:rPr lang="en-US" sz="1900" b="1" dirty="0">
                <a:solidFill>
                  <a:srgbClr val="0B192C"/>
                </a:solidFill>
              </a:rPr>
              <a:t>The drill writes its own record</a:t>
            </a:r>
            <a:endParaRPr lang="en-US" sz="1900" dirty="0"/>
          </a:p>
        </p:txBody>
      </p:sp>
      <p:sp>
        <p:nvSpPr>
          <p:cNvPr id="17" name="rule body 3"/>
          <p:cNvSpPr txBox="1"/>
          <p:nvPr/>
        </p:nvSpPr>
        <p:spPr>
          <a:xfrm>
            <a:off x="1828800" y="4800600"/>
            <a:ext cx="3840480" cy="731520"/>
          </a:xfrm>
          <a:prstGeom prst="rect">
            <a:avLst/>
          </a:prstGeom>
          <a:noFill/>
          <a:ln/>
        </p:spPr>
        <p:txBody>
          <a:bodyPr wrap="square" lIns="0" tIns="0" rIns="0" bIns="0" rtlCol="0" anchor="t"/>
          <a:lstStyle/>
          <a:p>
            <a:pPr indent="0" marL="0">
              <a:buNone/>
            </a:pPr>
            <a:r>
              <a:rPr lang="en-US" sz="1500" dirty="0">
                <a:solidFill>
                  <a:srgbClr val="0B192C"/>
                </a:solidFill>
              </a:rPr>
              <a:t>Evidence is captured as it happens, not rebuilt from memory.</a:t>
            </a:r>
            <a:endParaRPr lang="en-US" sz="1500" dirty="0"/>
          </a:p>
        </p:txBody>
      </p:sp>
      <p:sp>
        <p:nvSpPr>
          <p:cNvPr id="18" name="rule 4"/>
          <p:cNvSpPr/>
          <p:nvPr/>
        </p:nvSpPr>
        <p:spPr>
          <a:xfrm>
            <a:off x="6217920" y="3703320"/>
            <a:ext cx="5394960" cy="1965960"/>
          </a:xfrm>
          <a:prstGeom prst="roundRect">
            <a:avLst>
              <a:gd name="adj" fmla="val 5581"/>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19" name="rule 4 circle"/>
          <p:cNvSpPr/>
          <p:nvPr/>
        </p:nvSpPr>
        <p:spPr>
          <a:xfrm>
            <a:off x="6537960" y="4023360"/>
            <a:ext cx="731520" cy="731520"/>
          </a:xfrm>
          <a:prstGeom prst="ellipse">
            <a:avLst/>
          </a:prstGeom>
          <a:solidFill>
            <a:srgbClr val="005DAA"/>
          </a:solidFill>
          <a:ln w="12700">
            <a:solidFill>
              <a:srgbClr val="005DAA"/>
            </a:solidFill>
            <a:prstDash val="solid"/>
          </a:ln>
        </p:spPr>
      </p:sp>
      <p:pic>
        <p:nvPicPr>
          <p:cNvPr id="20" name="rule 4 icon" descr="preencoded.png">    </p:cNvPr>
          <p:cNvPicPr>
            <a:picLocks noChangeAspect="1"/>
          </p:cNvPicPr>
          <p:nvPr/>
        </p:nvPicPr>
        <p:blipFill>
          <a:blip r:embed="rId4"/>
          <a:stretch>
            <a:fillRect/>
          </a:stretch>
        </p:blipFill>
        <p:spPr>
          <a:xfrm>
            <a:off x="6720840" y="4206240"/>
            <a:ext cx="365760" cy="365760"/>
          </a:xfrm>
          <a:prstGeom prst="rect">
            <a:avLst/>
          </a:prstGeom>
        </p:spPr>
      </p:pic>
      <p:sp>
        <p:nvSpPr>
          <p:cNvPr id="21" name="rule head 4"/>
          <p:cNvSpPr txBox="1"/>
          <p:nvPr/>
        </p:nvSpPr>
        <p:spPr>
          <a:xfrm>
            <a:off x="7498080" y="4023360"/>
            <a:ext cx="3840480" cy="731520"/>
          </a:xfrm>
          <a:prstGeom prst="rect">
            <a:avLst/>
          </a:prstGeom>
          <a:noFill/>
          <a:ln/>
        </p:spPr>
        <p:txBody>
          <a:bodyPr wrap="square" lIns="0" tIns="0" rIns="0" bIns="0" rtlCol="0" anchor="ctr"/>
          <a:lstStyle/>
          <a:p>
            <a:pPr indent="0" marL="0">
              <a:buNone/>
            </a:pPr>
            <a:r>
              <a:rPr lang="en-US" sz="1900" b="1" dirty="0">
                <a:solidFill>
                  <a:srgbClr val="0B192C"/>
                </a:solidFill>
              </a:rPr>
              <a:t>It sits on top of the alarm</a:t>
            </a:r>
            <a:endParaRPr lang="en-US" sz="1900" dirty="0"/>
          </a:p>
        </p:txBody>
      </p:sp>
      <p:sp>
        <p:nvSpPr>
          <p:cNvPr id="22" name="rule body 4"/>
          <p:cNvSpPr txBox="1"/>
          <p:nvPr/>
        </p:nvSpPr>
        <p:spPr>
          <a:xfrm>
            <a:off x="7498080" y="4800600"/>
            <a:ext cx="3840480" cy="731520"/>
          </a:xfrm>
          <a:prstGeom prst="rect">
            <a:avLst/>
          </a:prstGeom>
          <a:noFill/>
          <a:ln/>
        </p:spPr>
        <p:txBody>
          <a:bodyPr wrap="square" lIns="0" tIns="0" rIns="0" bIns="0" rtlCol="0" anchor="t"/>
          <a:lstStyle/>
          <a:p>
            <a:pPr indent="0" marL="0">
              <a:buNone/>
            </a:pPr>
            <a:r>
              <a:rPr lang="en-US" sz="1500" dirty="0">
                <a:solidFill>
                  <a:srgbClr val="0B192C"/>
                </a:solidFill>
              </a:rPr>
              <a:t>It never replaces or touches the fire alarm panel.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509760" cy="822960"/>
          </a:xfrm>
          <a:prstGeom prst="rect">
            <a:avLst/>
          </a:prstGeom>
          <a:noFill/>
          <a:ln/>
        </p:spPr>
        <p:txBody>
          <a:bodyPr wrap="square" lIns="0" tIns="0" rIns="0" bIns="0" rtlCol="0" anchor="ctr"/>
          <a:lstStyle/>
          <a:p>
            <a:pPr algn="l" indent="0" marL="0">
              <a:buNone/>
            </a:pPr>
            <a:r>
              <a:rPr lang="en-US" sz="3200" b="1" dirty="0">
                <a:solidFill>
                  <a:schemeClr val="tx1"/>
                </a:solidFill>
              </a:rPr>
              <a:t>Pilot readiness: features verified and active in today's demo</a:t>
            </a:r>
            <a:endParaRPr lang="en-US" sz="3200" dirty="0"/>
          </a:p>
        </p:txBody>
      </p:sp>
      <p:sp>
        <p:nvSpPr>
          <p:cNvPr id="3" name="ready 1"/>
          <p:cNvSpPr/>
          <p:nvPr/>
        </p:nvSpPr>
        <p:spPr>
          <a:xfrm>
            <a:off x="548640" y="1463040"/>
            <a:ext cx="5394960" cy="1783080"/>
          </a:xfrm>
          <a:prstGeom prst="roundRect">
            <a:avLst>
              <a:gd name="adj" fmla="val 6154"/>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4" name="ready 1 circle"/>
          <p:cNvSpPr/>
          <p:nvPr/>
        </p:nvSpPr>
        <p:spPr>
          <a:xfrm>
            <a:off x="868680" y="1783080"/>
            <a:ext cx="731520" cy="731520"/>
          </a:xfrm>
          <a:prstGeom prst="ellipse">
            <a:avLst/>
          </a:prstGeom>
          <a:solidFill>
            <a:srgbClr val="005DAA"/>
          </a:solidFill>
          <a:ln w="12700">
            <a:solidFill>
              <a:srgbClr val="005DAA"/>
            </a:solidFill>
            <a:prstDash val="solid"/>
          </a:ln>
        </p:spPr>
      </p:sp>
      <p:pic>
        <p:nvPicPr>
          <p:cNvPr id="5" name="ready 1 icon" descr="preencoded.png">    </p:cNvPr>
          <p:cNvPicPr>
            <a:picLocks noChangeAspect="1"/>
          </p:cNvPicPr>
          <p:nvPr/>
        </p:nvPicPr>
        <p:blipFill>
          <a:blip r:embed="rId1"/>
          <a:stretch>
            <a:fillRect/>
          </a:stretch>
        </p:blipFill>
        <p:spPr>
          <a:xfrm>
            <a:off x="1051560" y="1965960"/>
            <a:ext cx="365760" cy="365760"/>
          </a:xfrm>
          <a:prstGeom prst="rect">
            <a:avLst/>
          </a:prstGeom>
        </p:spPr>
      </p:pic>
      <p:sp>
        <p:nvSpPr>
          <p:cNvPr id="6" name="ready head 1"/>
          <p:cNvSpPr txBox="1"/>
          <p:nvPr/>
        </p:nvSpPr>
        <p:spPr>
          <a:xfrm>
            <a:off x="1828800" y="1737360"/>
            <a:ext cx="3840480" cy="548640"/>
          </a:xfrm>
          <a:prstGeom prst="rect">
            <a:avLst/>
          </a:prstGeom>
          <a:noFill/>
          <a:ln/>
        </p:spPr>
        <p:txBody>
          <a:bodyPr wrap="square" lIns="0" tIns="0" rIns="0" bIns="0" rtlCol="0" anchor="ctr"/>
          <a:lstStyle/>
          <a:p>
            <a:pPr indent="0" marL="0">
              <a:buNone/>
            </a:pPr>
            <a:r>
              <a:rPr lang="en-US" sz="1800" b="1" dirty="0">
                <a:solidFill>
                  <a:srgbClr val="0B192C"/>
                </a:solidFill>
              </a:rPr>
              <a:t>Everyone signs in with their own PIN</a:t>
            </a:r>
            <a:endParaRPr lang="en-US" sz="1800" dirty="0"/>
          </a:p>
        </p:txBody>
      </p:sp>
      <p:sp>
        <p:nvSpPr>
          <p:cNvPr id="7" name="ready body 1"/>
          <p:cNvSpPr txBox="1"/>
          <p:nvPr/>
        </p:nvSpPr>
        <p:spPr>
          <a:xfrm>
            <a:off x="1828800" y="2304288"/>
            <a:ext cx="3840480" cy="822960"/>
          </a:xfrm>
          <a:prstGeom prst="rect">
            <a:avLst/>
          </a:prstGeom>
          <a:noFill/>
          <a:ln/>
        </p:spPr>
        <p:txBody>
          <a:bodyPr wrap="square" lIns="0" tIns="0" rIns="0" bIns="0" rtlCol="0" anchor="t"/>
          <a:lstStyle/>
          <a:p>
            <a:pPr indent="0" marL="0">
              <a:buNone/>
            </a:pPr>
            <a:r>
              <a:rPr lang="en-US" sz="1500" dirty="0">
                <a:solidFill>
                  <a:srgbClr val="0B192C"/>
                </a:solidFill>
              </a:rPr>
              <a:t>Personal PINs for commanders/wardens, plus 1-tap mobile phone connect for all 195 Floor 07 personnel.</a:t>
            </a:r>
            <a:endParaRPr lang="en-US" sz="1500" dirty="0"/>
          </a:p>
        </p:txBody>
      </p:sp>
      <p:sp>
        <p:nvSpPr>
          <p:cNvPr id="8" name="ready 2"/>
          <p:cNvSpPr/>
          <p:nvPr/>
        </p:nvSpPr>
        <p:spPr>
          <a:xfrm>
            <a:off x="6217920" y="1463040"/>
            <a:ext cx="5394960" cy="1783080"/>
          </a:xfrm>
          <a:prstGeom prst="roundRect">
            <a:avLst>
              <a:gd name="adj" fmla="val 6154"/>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9" name="ready 2 circle"/>
          <p:cNvSpPr/>
          <p:nvPr/>
        </p:nvSpPr>
        <p:spPr>
          <a:xfrm>
            <a:off x="6537960" y="1783080"/>
            <a:ext cx="731520" cy="731520"/>
          </a:xfrm>
          <a:prstGeom prst="ellipse">
            <a:avLst/>
          </a:prstGeom>
          <a:solidFill>
            <a:srgbClr val="005DAA"/>
          </a:solidFill>
          <a:ln w="12700">
            <a:solidFill>
              <a:srgbClr val="005DAA"/>
            </a:solidFill>
            <a:prstDash val="solid"/>
          </a:ln>
        </p:spPr>
      </p:sp>
      <p:pic>
        <p:nvPicPr>
          <p:cNvPr id="10" name="ready 2 icon" descr="preencoded.png">    </p:cNvPr>
          <p:cNvPicPr>
            <a:picLocks noChangeAspect="1"/>
          </p:cNvPicPr>
          <p:nvPr/>
        </p:nvPicPr>
        <p:blipFill>
          <a:blip r:embed="rId2"/>
          <a:stretch>
            <a:fillRect/>
          </a:stretch>
        </p:blipFill>
        <p:spPr>
          <a:xfrm>
            <a:off x="6720840" y="1965960"/>
            <a:ext cx="365760" cy="365760"/>
          </a:xfrm>
          <a:prstGeom prst="rect">
            <a:avLst/>
          </a:prstGeom>
        </p:spPr>
      </p:pic>
      <p:sp>
        <p:nvSpPr>
          <p:cNvPr id="11" name="ready head 2"/>
          <p:cNvSpPr txBox="1"/>
          <p:nvPr/>
        </p:nvSpPr>
        <p:spPr>
          <a:xfrm>
            <a:off x="7498080" y="1737360"/>
            <a:ext cx="3840480" cy="548640"/>
          </a:xfrm>
          <a:prstGeom prst="rect">
            <a:avLst/>
          </a:prstGeom>
          <a:noFill/>
          <a:ln/>
        </p:spPr>
        <p:txBody>
          <a:bodyPr wrap="square" lIns="0" tIns="0" rIns="0" bIns="0" rtlCol="0" anchor="ctr"/>
          <a:lstStyle/>
          <a:p>
            <a:pPr indent="0" marL="0">
              <a:buNone/>
            </a:pPr>
            <a:r>
              <a:rPr lang="en-US" sz="1800" b="1" dirty="0">
                <a:solidFill>
                  <a:srgbClr val="0B192C"/>
                </a:solidFill>
              </a:rPr>
              <a:t>Contact numbers stay private</a:t>
            </a:r>
            <a:endParaRPr lang="en-US" sz="1800" dirty="0"/>
          </a:p>
        </p:txBody>
      </p:sp>
      <p:sp>
        <p:nvSpPr>
          <p:cNvPr id="12" name="ready body 2"/>
          <p:cNvSpPr txBox="1"/>
          <p:nvPr/>
        </p:nvSpPr>
        <p:spPr>
          <a:xfrm>
            <a:off x="7498080" y="2304288"/>
            <a:ext cx="3840480" cy="822960"/>
          </a:xfrm>
          <a:prstGeom prst="rect">
            <a:avLst/>
          </a:prstGeom>
          <a:noFill/>
          <a:ln/>
        </p:spPr>
        <p:txBody>
          <a:bodyPr wrap="square" lIns="0" tIns="0" rIns="0" bIns="0" rtlCol="0" anchor="t"/>
          <a:lstStyle/>
          <a:p>
            <a:pPr indent="0" marL="0">
              <a:buNone/>
            </a:pPr>
            <a:r>
              <a:rPr lang="en-US" sz="1500" dirty="0">
                <a:solidFill>
                  <a:srgbClr val="0B192C"/>
                </a:solidFill>
              </a:rPr>
              <a:t>Public screens never show phone numbers or internal network addresses.</a:t>
            </a:r>
            <a:endParaRPr lang="en-US" sz="1500" dirty="0"/>
          </a:p>
        </p:txBody>
      </p:sp>
      <p:sp>
        <p:nvSpPr>
          <p:cNvPr id="13" name="ready 3"/>
          <p:cNvSpPr/>
          <p:nvPr/>
        </p:nvSpPr>
        <p:spPr>
          <a:xfrm>
            <a:off x="548640" y="3520440"/>
            <a:ext cx="5394960" cy="1783080"/>
          </a:xfrm>
          <a:prstGeom prst="roundRect">
            <a:avLst>
              <a:gd name="adj" fmla="val 6154"/>
            </a:avLst>
          </a:prstGeom>
          <a:solidFill>
            <a:srgbClr val="EEF4FA"/>
          </a:solidFill>
          <a:ln w="12700">
            <a:solidFill>
              <a:srgbClr val="EEF4FA"/>
            </a:solidFill>
            <a:prstDash val="solid"/>
          </a:ln>
          <a:effectLst>
            <a:outerShdw sx="100000" sy="100000" kx="0" ky="0" algn="bl" rotWithShape="0" blurRad="101600" dist="25400" dir="5400000">
              <a:srgbClr val="0B192C">
                <a:alpha val="14000"/>
              </a:srgbClr>
            </a:outerShdw>
          </a:effectLst>
        </p:spPr>
      </p:sp>
      <p:sp>
        <p:nvSpPr>
          <p:cNvPr id="14" name="ready 3 circle"/>
          <p:cNvSpPr/>
          <p:nvPr/>
        </p:nvSpPr>
        <p:spPr>
          <a:xfrm>
            <a:off x="868680" y="3840480"/>
            <a:ext cx="731520" cy="731520"/>
          </a:xfrm>
          <a:prstGeom prst="ellipse">
            <a:avLst/>
          </a:prstGeom>
          <a:solidFill>
            <a:srgbClr val="005DAA"/>
          </a:solidFill>
          <a:ln w="12700">
            <a:solidFill>
              <a:srgbClr val="005DAA"/>
            </a:solidFill>
            <a:prstDash val="solid"/>
          </a:ln>
        </p:spPr>
      </p:sp>
      <p:pic>
        <p:nvPicPr>
          <p:cNvPr id="15" name="ready 3 icon" descr="preencoded.png">    </p:cNvPr>
          <p:cNvPicPr>
            <a:picLocks noChangeAspect="1"/>
          </p:cNvPicPr>
          <p:nvPr/>
        </p:nvPicPr>
        <p:blipFill>
          <a:blip r:embed="rId3"/>
          <a:stretch>
            <a:fillRect/>
          </a:stretch>
        </p:blipFill>
        <p:spPr>
          <a:xfrm>
            <a:off x="1051560" y="4023360"/>
            <a:ext cx="365760" cy="365760"/>
          </a:xfrm>
          <a:prstGeom prst="rect">
            <a:avLst/>
          </a:prstGeom>
        </p:spPr>
      </p:pic>
      <p:sp>
        <p:nvSpPr>
          <p:cNvPr id="16" name="ready head 3"/>
          <p:cNvSpPr txBox="1"/>
          <p:nvPr/>
        </p:nvSpPr>
        <p:spPr>
          <a:xfrm>
            <a:off x="1828800" y="3794760"/>
            <a:ext cx="3840480" cy="548640"/>
          </a:xfrm>
          <a:prstGeom prst="rect">
            <a:avLst/>
          </a:prstGeom>
          <a:noFill/>
          <a:ln/>
        </p:spPr>
        <p:txBody>
          <a:bodyPr wrap="square" lIns="0" tIns="0" rIns="0" bIns="0" rtlCol="0" anchor="ctr"/>
          <a:lstStyle/>
          <a:p>
            <a:pPr indent="0" marL="0">
              <a:buNone/>
            </a:pPr>
            <a:r>
              <a:rPr lang="en-US" sz="1800" b="1" dirty="0">
                <a:solidFill>
                  <a:srgbClr val="0B192C"/>
                </a:solidFill>
              </a:rPr>
              <a:t>The audit log survives a restart</a:t>
            </a:r>
            <a:endParaRPr lang="en-US" sz="1800" dirty="0"/>
          </a:p>
        </p:txBody>
      </p:sp>
      <p:sp>
        <p:nvSpPr>
          <p:cNvPr id="17" name="ready body 3"/>
          <p:cNvSpPr txBox="1"/>
          <p:nvPr/>
        </p:nvSpPr>
        <p:spPr>
          <a:xfrm>
            <a:off x="1828800" y="4361688"/>
            <a:ext cx="3840480" cy="822960"/>
          </a:xfrm>
          <a:prstGeom prst="rect">
            <a:avLst/>
          </a:prstGeom>
          <a:noFill/>
          <a:ln/>
        </p:spPr>
        <p:txBody>
          <a:bodyPr wrap="square" lIns="0" tIns="0" rIns="0" bIns="0" rtlCol="0" anchor="t"/>
          <a:lstStyle/>
          <a:p>
            <a:pPr indent="0" marL="0">
              <a:buNone/>
            </a:pPr>
            <a:r>
              <a:rPr lang="en-US" sz="1500" dirty="0">
                <a:solidFill>
                  <a:srgbClr val="0B192C"/>
                </a:solidFill>
              </a:rPr>
              <a:t>Saved to disk, checked at startup, archived instead of erased on reset.</a:t>
            </a:r>
            <a:endParaRPr lang="en-US" sz="1500" dirty="0"/>
          </a:p>
        </p:txBody>
      </p:sp>
      <p:sp>
        <p:nvSpPr>
          <p:cNvPr id="18" name="ready 4"/>
          <p:cNvSpPr/>
          <p:nvPr/>
        </p:nvSpPr>
        <p:spPr>
          <a:xfrm>
            <a:off x="6217920" y="3520440"/>
            <a:ext cx="5394960" cy="1783080"/>
          </a:xfrm>
          <a:prstGeom prst="roundRect">
            <a:avLst>
              <a:gd name="adj" fmla="val 6154"/>
            </a:avLst>
          </a:prstGeom>
          <a:solidFill>
            <a:srgbClr val="FDF3E6"/>
          </a:solidFill>
          <a:ln w="12700">
            <a:solidFill>
              <a:srgbClr val="FDF3E6"/>
            </a:solidFill>
            <a:prstDash val="solid"/>
          </a:ln>
          <a:effectLst>
            <a:outerShdw sx="100000" sy="100000" kx="0" ky="0" algn="bl" rotWithShape="0" blurRad="101600" dist="25400" dir="5400000">
              <a:srgbClr val="0B192C">
                <a:alpha val="14000"/>
              </a:srgbClr>
            </a:outerShdw>
          </a:effectLst>
        </p:spPr>
      </p:sp>
      <p:sp>
        <p:nvSpPr>
          <p:cNvPr id="19" name="ready 4 circle"/>
          <p:cNvSpPr/>
          <p:nvPr/>
        </p:nvSpPr>
        <p:spPr>
          <a:xfrm>
            <a:off x="6537960" y="3840480"/>
            <a:ext cx="731520" cy="731520"/>
          </a:xfrm>
          <a:prstGeom prst="ellipse">
            <a:avLst/>
          </a:prstGeom>
          <a:solidFill>
            <a:srgbClr val="D97706"/>
          </a:solidFill>
          <a:ln w="12700">
            <a:solidFill>
              <a:srgbClr val="D97706"/>
            </a:solidFill>
            <a:prstDash val="solid"/>
          </a:ln>
        </p:spPr>
      </p:sp>
      <p:pic>
        <p:nvPicPr>
          <p:cNvPr id="20" name="ready 4 icon" descr="preencoded.png">    </p:cNvPr>
          <p:cNvPicPr>
            <a:picLocks noChangeAspect="1"/>
          </p:cNvPicPr>
          <p:nvPr/>
        </p:nvPicPr>
        <p:blipFill>
          <a:blip r:embed="rId4"/>
          <a:stretch>
            <a:fillRect/>
          </a:stretch>
        </p:blipFill>
        <p:spPr>
          <a:xfrm>
            <a:off x="6720840" y="4023360"/>
            <a:ext cx="365760" cy="365760"/>
          </a:xfrm>
          <a:prstGeom prst="rect">
            <a:avLst/>
          </a:prstGeom>
        </p:spPr>
      </p:pic>
      <p:sp>
        <p:nvSpPr>
          <p:cNvPr id="21" name="ready head 4"/>
          <p:cNvSpPr txBox="1"/>
          <p:nvPr/>
        </p:nvSpPr>
        <p:spPr>
          <a:xfrm>
            <a:off x="7498080" y="3794760"/>
            <a:ext cx="3840480" cy="548640"/>
          </a:xfrm>
          <a:prstGeom prst="rect">
            <a:avLst/>
          </a:prstGeom>
          <a:noFill/>
          <a:ln/>
        </p:spPr>
        <p:txBody>
          <a:bodyPr wrap="square" lIns="0" tIns="0" rIns="0" bIns="0" rtlCol="0" anchor="ctr"/>
          <a:lstStyle/>
          <a:p>
            <a:pPr indent="0" marL="0">
              <a:buNone/>
            </a:pPr>
            <a:r>
              <a:rPr lang="en-US" sz="1800" b="1" dirty="0">
                <a:solidFill>
                  <a:srgbClr val="0B192C"/>
                </a:solidFill>
              </a:rPr>
              <a:t>Honest alert status</a:t>
            </a:r>
            <a:endParaRPr lang="en-US" sz="1800" dirty="0"/>
          </a:p>
        </p:txBody>
      </p:sp>
      <p:sp>
        <p:nvSpPr>
          <p:cNvPr id="22" name="ready body 4"/>
          <p:cNvSpPr txBox="1"/>
          <p:nvPr/>
        </p:nvSpPr>
        <p:spPr>
          <a:xfrm>
            <a:off x="7498080" y="4361688"/>
            <a:ext cx="3840480" cy="822960"/>
          </a:xfrm>
          <a:prstGeom prst="rect">
            <a:avLst/>
          </a:prstGeom>
          <a:noFill/>
          <a:ln/>
        </p:spPr>
        <p:txBody>
          <a:bodyPr wrap="square" lIns="0" tIns="0" rIns="0" bIns="0" rtlCol="0" anchor="t"/>
          <a:lstStyle/>
          <a:p>
            <a:pPr indent="0" marL="0">
              <a:buNone/>
            </a:pPr>
            <a:r>
              <a:rPr lang="en-US" sz="1500" dirty="0">
                <a:solidFill>
                  <a:srgbClr val="0B192C"/>
                </a:solidFill>
              </a:rPr>
              <a:t>A failed alert says "ALERT NOT SENT"; delivery is never claimed when it did not happen.</a:t>
            </a:r>
            <a:endParaRPr lang="en-US" sz="1500" dirty="0"/>
          </a:p>
        </p:txBody>
      </p:sp>
      <p:sp>
        <p:nvSpPr>
          <p:cNvPr id="23" name="status note"/>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400" i="1" dirty="0">
                <a:solidFill>
                  <a:srgbClr val="64748B"/>
                </a:solidFill>
              </a:rPr>
              <a:t>Integrated and live in today's demo build (survives restarts, private numbers, phone connect).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MusterCommand Con Ed">
  <a:themeElements>
    <a:clrScheme name="MusterCommand Con Ed">
      <a:dk1>
        <a:srgbClr val="0B192C"/>
      </a:dk1>
      <a:lt1>
        <a:srgbClr val="FFFFFF"/>
      </a:lt1>
      <a:dk2>
        <a:srgbClr val="005DAA"/>
      </a:dk2>
      <a:lt2>
        <a:srgbClr val="EEF4FA"/>
      </a:lt2>
      <a:accent1>
        <a:srgbClr val="005DAA"/>
      </a:accent1>
      <a:accent2>
        <a:srgbClr val="D97706"/>
      </a:accent2>
      <a:accent3>
        <a:srgbClr val="0F7B53"/>
      </a:accent3>
      <a:accent4>
        <a:srgbClr val="B91C1C"/>
      </a:accent4>
      <a:accent5>
        <a:srgbClr val="64748B"/>
      </a:accent5>
      <a:accent6>
        <a:srgbClr val="9CC3EA"/>
      </a:accent6>
      <a:hlink>
        <a:srgbClr val="005DAA"/>
      </a:hlink>
      <a:folHlink>
        <a:srgbClr val="5B4B8A"/>
      </a:folHlink>
    </a:clrScheme>
    <a:fontScheme name="MusterCommand Con 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MusterCommand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MusterCommand: Con Edison Floor 07 Briefing</dc:title>
  <dc:subject>PptxGenJS Presentation</dc:subject>
  <dc:creator>Robert Petillo and Samuel McFarlane</dc:creator>
  <cp:lastModifiedBy>Robert Petillo and Samuel McFarlane</cp:lastModifiedBy>
  <cp:revision>1</cp:revision>
  <dcterms:created xsi:type="dcterms:W3CDTF">2026-10-12T18:44:26Z</dcterms:created>
  <dcterms:modified xsi:type="dcterms:W3CDTF">2026-10-12T18:44:26Z</dcterms:modified>
</cp:coreProperties>
</file>